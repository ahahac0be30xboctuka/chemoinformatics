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1" r:id="rId7"/>
    <p:sldId id="260" r:id="rId8"/>
    <p:sldId id="262" r:id="rId9"/>
    <p:sldId id="263" r:id="rId10"/>
    <p:sldId id="264" r:id="rId11"/>
    <p:sldId id="265" r:id="rId12"/>
    <p:sldId id="266" r:id="rId13"/>
    <p:sldId id="267" r:id="rId14"/>
    <p:sldId id="268" r:id="rId15"/>
    <p:sldId id="269" r:id="rId16"/>
    <p:sldId id="270" r:id="rId17"/>
    <p:sldId id="271" r:id="rId18"/>
    <p:sldId id="273" r:id="rId19"/>
    <p:sldId id="290" r:id="rId20"/>
    <p:sldId id="285" r:id="rId21"/>
    <p:sldId id="279" r:id="rId22"/>
    <p:sldId id="278" r:id="rId23"/>
    <p:sldId id="274" r:id="rId24"/>
    <p:sldId id="275" r:id="rId25"/>
    <p:sldId id="276" r:id="rId26"/>
    <p:sldId id="286" r:id="rId27"/>
    <p:sldId id="281" r:id="rId28"/>
    <p:sldId id="287" r:id="rId29"/>
    <p:sldId id="282" r:id="rId30"/>
    <p:sldId id="277" r:id="rId31"/>
    <p:sldId id="284" r:id="rId32"/>
    <p:sldId id="288" r:id="rId33"/>
    <p:sldId id="289" r:id="rId34"/>
  </p:sldIdLst>
  <p:sldSz cx="12192000" cy="6858000"/>
  <p:notesSz cx="7103745"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æ·±è²æ ·å¼ 1 - å¼ºè°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æ æ ·å¼ï¼ç½æ ¼å">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FDE934FF-F4E1-47C5-9CA5-30A81DDE2BE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934FF-F4E1-47C5-9CA5-30A81DDE2BE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61BA9-CDCF-4958-B8AB-66F3BF063E1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8750" y="2752725"/>
            <a:ext cx="11581765" cy="995045"/>
          </a:xfrm>
        </p:spPr>
        <p:txBody>
          <a:bodyPr/>
          <a:p>
            <a:r>
              <a:rPr lang="en-US">
                <a:sym typeface="+mn-ea"/>
              </a:rPr>
              <a:t>Molecular Dynamics </a:t>
            </a:r>
            <a:r>
              <a:rPr lang="en-US" altLang="en-US">
                <a:sym typeface="+mn-ea"/>
              </a:rPr>
              <a:t>Simulation</a:t>
            </a:r>
            <a:endParaRPr lang="en-US" altLang="en-US">
              <a:sym typeface="+mn-ea"/>
            </a:endParaRPr>
          </a:p>
        </p:txBody>
      </p:sp>
      <p:sp>
        <p:nvSpPr>
          <p:cNvPr id="4" name="Text Box 3"/>
          <p:cNvSpPr txBox="1"/>
          <p:nvPr/>
        </p:nvSpPr>
        <p:spPr>
          <a:xfrm>
            <a:off x="2113915" y="4067810"/>
            <a:ext cx="8185785" cy="521970"/>
          </a:xfrm>
          <a:prstGeom prst="rect">
            <a:avLst/>
          </a:prstGeom>
          <a:noFill/>
        </p:spPr>
        <p:txBody>
          <a:bodyPr wrap="square" rtlCol="0" anchor="t">
            <a:spAutoFit/>
          </a:bodyPr>
          <a:p>
            <a:r>
              <a:rPr lang="en-US" sz="2800" b="1"/>
              <a:t>Моделирование молекулярной динамики</a:t>
            </a:r>
            <a:endParaRPr lang="en-US" sz="28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Molecular Dynamics </a:t>
            </a:r>
            <a:r>
              <a:rPr lang="en-US" altLang="en-US">
                <a:sym typeface="+mn-ea"/>
              </a:rPr>
              <a:t>Simulation</a:t>
            </a:r>
            <a:endParaRPr lang="en-US"/>
          </a:p>
        </p:txBody>
      </p:sp>
      <p:sp>
        <p:nvSpPr>
          <p:cNvPr id="3" name="Content Placeholder 2"/>
          <p:cNvSpPr>
            <a:spLocks noGrp="1"/>
          </p:cNvSpPr>
          <p:nvPr>
            <p:ph idx="1"/>
          </p:nvPr>
        </p:nvSpPr>
        <p:spPr>
          <a:xfrm>
            <a:off x="838200" y="1691005"/>
            <a:ext cx="11139170" cy="4737100"/>
          </a:xfrm>
        </p:spPr>
        <p:txBody>
          <a:bodyPr>
            <a:normAutofit lnSpcReduction="20000"/>
          </a:bodyPr>
          <a:p>
            <a:r>
              <a:rPr lang="en-US" sz="2000">
                <a:sym typeface="+mn-ea"/>
              </a:rPr>
              <a:t>Molecular Dynamics (MD) simulation is a computational method used to model the physical movements of atoms and molecules over time using Newton’s laws of motion. </a:t>
            </a:r>
            <a:endParaRPr lang="en-US" sz="2000">
              <a:sym typeface="+mn-ea"/>
            </a:endParaRPr>
          </a:p>
          <a:p>
            <a:r>
              <a:rPr lang="en-US" sz="2000">
                <a:solidFill>
                  <a:srgbClr val="FF0000"/>
                </a:solidFill>
                <a:sym typeface="+mn-ea"/>
              </a:rPr>
              <a:t>Моделирование в области молекулярной динамики (МД) - это вычислительный метод, используемый для моделирования физических движений атомов и молекул во времени с использованием законов движения Ньютона.</a:t>
            </a:r>
            <a:endParaRPr lang="en-US" sz="2000">
              <a:solidFill>
                <a:srgbClr val="FF0000"/>
              </a:solidFill>
              <a:sym typeface="+mn-ea"/>
            </a:endParaRPr>
          </a:p>
          <a:p>
            <a:endParaRPr lang="en-US" sz="2000">
              <a:solidFill>
                <a:srgbClr val="FF0000"/>
              </a:solidFill>
              <a:sym typeface="+mn-ea"/>
            </a:endParaRPr>
          </a:p>
          <a:p>
            <a:r>
              <a:rPr lang="en-US" sz="2000">
                <a:sym typeface="+mn-ea"/>
              </a:rPr>
              <a:t>Each atom is treated as a particle subjected to forces derived from a </a:t>
            </a:r>
            <a:r>
              <a:rPr lang="en-US" sz="2000" b="1">
                <a:sym typeface="+mn-ea"/>
              </a:rPr>
              <a:t>force field </a:t>
            </a:r>
            <a:r>
              <a:rPr lang="en-US" sz="2000">
                <a:sym typeface="+mn-ea"/>
              </a:rPr>
              <a:t>(a set of equations and parameters that define how atoms interact </a:t>
            </a:r>
            <a:r>
              <a:rPr lang="en-US" altLang="en-US" sz="2000">
                <a:sym typeface="+mn-ea"/>
              </a:rPr>
              <a:t>e.g ff19sb, Glycam, gaff etc.</a:t>
            </a:r>
            <a:r>
              <a:rPr lang="en-US" sz="2000">
                <a:sym typeface="+mn-ea"/>
              </a:rPr>
              <a:t>).</a:t>
            </a:r>
            <a:endParaRPr lang="en-US" sz="2000">
              <a:sym typeface="+mn-ea"/>
            </a:endParaRPr>
          </a:p>
          <a:p>
            <a:r>
              <a:rPr lang="en-US" sz="2000">
                <a:solidFill>
                  <a:srgbClr val="FF0000"/>
                </a:solidFill>
              </a:rPr>
              <a:t>Каждый атом рассматривается как частица, подверженная воздействию сил, производных от силового поля (набора уравнений и параметров, которые определяют, как взаимодействуют атомы).</a:t>
            </a:r>
            <a:endParaRPr lang="en-US" sz="2000">
              <a:solidFill>
                <a:srgbClr val="FF0000"/>
              </a:solidFill>
            </a:endParaRPr>
          </a:p>
          <a:p>
            <a:pPr marL="0" indent="0">
              <a:buNone/>
            </a:pPr>
            <a:endParaRPr lang="en-US" sz="2000">
              <a:sym typeface="+mn-ea"/>
            </a:endParaRPr>
          </a:p>
          <a:p>
            <a:r>
              <a:rPr lang="en-US" sz="2000">
                <a:sym typeface="+mn-ea"/>
              </a:rPr>
              <a:t>It allows scientists to study the structure, dynamics, and thermodynamics of biological and chemical systems at the atomic level.</a:t>
            </a:r>
            <a:endParaRPr lang="en-US" sz="2000">
              <a:sym typeface="+mn-ea"/>
            </a:endParaRPr>
          </a:p>
          <a:p>
            <a:r>
              <a:rPr lang="en-US" sz="2000">
                <a:solidFill>
                  <a:srgbClr val="FF0000"/>
                </a:solidFill>
              </a:rPr>
              <a:t>Это позволяет ученым изучать структуру, динамику и термодинамику биологических и химических систем на атомарном уровне.</a:t>
            </a:r>
            <a:endParaRPr lang="en-US" sz="2000">
              <a:solidFill>
                <a:srgbClr val="FF0000"/>
              </a:solidFill>
            </a:endParaRPr>
          </a:p>
          <a:p>
            <a:pPr marL="0" indent="0">
              <a:buNone/>
            </a:pPr>
            <a:endParaRPr lang="en-US" sz="200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What Is It Used For?</a:t>
            </a:r>
            <a:endParaRPr lang="en-US"/>
          </a:p>
        </p:txBody>
      </p:sp>
      <p:sp>
        <p:nvSpPr>
          <p:cNvPr id="3" name="Content Placeholder 2"/>
          <p:cNvSpPr>
            <a:spLocks noGrp="1"/>
          </p:cNvSpPr>
          <p:nvPr>
            <p:ph idx="1"/>
          </p:nvPr>
        </p:nvSpPr>
        <p:spPr>
          <a:xfrm>
            <a:off x="287655" y="1691005"/>
            <a:ext cx="5951220" cy="4351655"/>
          </a:xfrm>
        </p:spPr>
        <p:txBody>
          <a:bodyPr>
            <a:normAutofit fontScale="90000" lnSpcReduction="10000"/>
          </a:bodyPr>
          <a:p>
            <a:r>
              <a:rPr lang="en-US"/>
              <a:t>    Protein-ligand interactions</a:t>
            </a:r>
            <a:endParaRPr lang="en-US"/>
          </a:p>
          <a:p>
            <a:endParaRPr lang="en-US"/>
          </a:p>
          <a:p>
            <a:r>
              <a:rPr lang="en-US"/>
              <a:t>    Membrane dynamics</a:t>
            </a:r>
            <a:endParaRPr lang="en-US"/>
          </a:p>
          <a:p>
            <a:endParaRPr lang="en-US"/>
          </a:p>
          <a:p>
            <a:r>
              <a:rPr lang="en-US"/>
              <a:t>    Protein folding and conformational changes</a:t>
            </a:r>
            <a:endParaRPr lang="en-US"/>
          </a:p>
          <a:p>
            <a:endParaRPr lang="en-US"/>
          </a:p>
          <a:p>
            <a:r>
              <a:rPr lang="en-US"/>
              <a:t>    Nanomaterial behavior</a:t>
            </a:r>
            <a:endParaRPr lang="en-US"/>
          </a:p>
          <a:p>
            <a:endParaRPr lang="en-US"/>
          </a:p>
          <a:p>
            <a:r>
              <a:rPr lang="en-US"/>
              <a:t>    Thermal stability of biomolecules</a:t>
            </a:r>
            <a:endParaRPr lang="en-US"/>
          </a:p>
        </p:txBody>
      </p:sp>
      <p:sp>
        <p:nvSpPr>
          <p:cNvPr id="4" name="Text Box 3"/>
          <p:cNvSpPr txBox="1"/>
          <p:nvPr/>
        </p:nvSpPr>
        <p:spPr>
          <a:xfrm>
            <a:off x="6789420" y="1519555"/>
            <a:ext cx="5398135" cy="4154170"/>
          </a:xfrm>
          <a:prstGeom prst="rect">
            <a:avLst/>
          </a:prstGeom>
          <a:noFill/>
        </p:spPr>
        <p:txBody>
          <a:bodyPr wrap="square" rtlCol="0" anchor="t">
            <a:spAutoFit/>
          </a:bodyPr>
          <a:p>
            <a:pPr marL="342900" indent="-342900">
              <a:buFont typeface="Arial" panose="020B0604020202020204" pitchFamily="34" charset="0"/>
              <a:buChar char="•"/>
            </a:pPr>
            <a:r>
              <a:rPr lang="en-US" sz="2400">
                <a:solidFill>
                  <a:srgbClr val="FF0000"/>
                </a:solidFill>
              </a:rPr>
              <a:t>Белково-лигандные взаимодействия</a:t>
            </a:r>
            <a:endParaRPr lang="en-US" sz="2400">
              <a:solidFill>
                <a:srgbClr val="FF0000"/>
              </a:solidFill>
            </a:endParaRPr>
          </a:p>
          <a:p>
            <a:pPr marL="342900" indent="-342900">
              <a:buFont typeface="Arial" panose="020B0604020202020204" pitchFamily="34" charset="0"/>
              <a:buChar char="•"/>
            </a:pPr>
            <a:endParaRPr lang="en-US" sz="2400">
              <a:solidFill>
                <a:srgbClr val="FF0000"/>
              </a:solidFill>
            </a:endParaRPr>
          </a:p>
          <a:p>
            <a:pPr marL="342900" indent="-342900">
              <a:buFont typeface="Arial" panose="020B0604020202020204" pitchFamily="34" charset="0"/>
              <a:buChar char="•"/>
            </a:pPr>
            <a:r>
              <a:rPr lang="en-US" sz="2400">
                <a:solidFill>
                  <a:srgbClr val="FF0000"/>
                </a:solidFill>
              </a:rPr>
              <a:t> Динамика мембран</a:t>
            </a:r>
            <a:endParaRPr lang="en-US" sz="2400">
              <a:solidFill>
                <a:srgbClr val="FF0000"/>
              </a:solidFill>
            </a:endParaRPr>
          </a:p>
          <a:p>
            <a:pPr marL="342900" indent="-342900">
              <a:buFont typeface="Arial" panose="020B0604020202020204" pitchFamily="34" charset="0"/>
              <a:buChar char="•"/>
            </a:pPr>
            <a:endParaRPr lang="en-US" sz="2400">
              <a:solidFill>
                <a:srgbClr val="FF0000"/>
              </a:solidFill>
            </a:endParaRPr>
          </a:p>
          <a:p>
            <a:pPr marL="342900" indent="-342900">
              <a:buFont typeface="Arial" panose="020B0604020202020204" pitchFamily="34" charset="0"/>
              <a:buChar char="•"/>
            </a:pPr>
            <a:r>
              <a:rPr lang="en-US" sz="2400">
                <a:solidFill>
                  <a:srgbClr val="FF0000"/>
                </a:solidFill>
              </a:rPr>
              <a:t>Сворачивание белков и конформационные изменения</a:t>
            </a:r>
            <a:endParaRPr lang="en-US" sz="2400">
              <a:solidFill>
                <a:srgbClr val="FF0000"/>
              </a:solidFill>
            </a:endParaRPr>
          </a:p>
          <a:p>
            <a:pPr marL="342900" indent="-342900">
              <a:buFont typeface="Arial" panose="020B0604020202020204" pitchFamily="34" charset="0"/>
              <a:buChar char="•"/>
            </a:pPr>
            <a:endParaRPr lang="en-US" sz="2400">
              <a:solidFill>
                <a:srgbClr val="FF0000"/>
              </a:solidFill>
            </a:endParaRPr>
          </a:p>
          <a:p>
            <a:pPr marL="342900" indent="-342900">
              <a:buFont typeface="Arial" panose="020B0604020202020204" pitchFamily="34" charset="0"/>
              <a:buChar char="•"/>
            </a:pPr>
            <a:r>
              <a:rPr lang="en-US" sz="2400">
                <a:solidFill>
                  <a:srgbClr val="FF0000"/>
                </a:solidFill>
              </a:rPr>
              <a:t>Поведение наноматериалов</a:t>
            </a:r>
            <a:endParaRPr lang="en-US" sz="2400">
              <a:solidFill>
                <a:srgbClr val="FF0000"/>
              </a:solidFill>
            </a:endParaRPr>
          </a:p>
          <a:p>
            <a:pPr marL="342900" indent="-342900">
              <a:buFont typeface="Arial" panose="020B0604020202020204" pitchFamily="34" charset="0"/>
              <a:buChar char="•"/>
            </a:pPr>
            <a:endParaRPr lang="en-US" sz="2400">
              <a:solidFill>
                <a:srgbClr val="FF0000"/>
              </a:solidFill>
            </a:endParaRPr>
          </a:p>
          <a:p>
            <a:pPr marL="342900" indent="-342900">
              <a:buFont typeface="Arial" panose="020B0604020202020204" pitchFamily="34" charset="0"/>
              <a:buChar char="•"/>
            </a:pPr>
            <a:r>
              <a:rPr lang="en-US" sz="2400">
                <a:solidFill>
                  <a:srgbClr val="FF0000"/>
                </a:solidFill>
              </a:rPr>
              <a:t>Термостабильность биомолекул</a:t>
            </a:r>
            <a:endParaRPr lang="en-US" sz="240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Simplified Workflow:</a:t>
            </a:r>
            <a:endParaRPr lang="en-US"/>
          </a:p>
        </p:txBody>
      </p:sp>
      <p:sp>
        <p:nvSpPr>
          <p:cNvPr id="3" name="Content Placeholder 2"/>
          <p:cNvSpPr>
            <a:spLocks noGrp="1"/>
          </p:cNvSpPr>
          <p:nvPr>
            <p:ph idx="1"/>
          </p:nvPr>
        </p:nvSpPr>
        <p:spPr>
          <a:xfrm>
            <a:off x="379730" y="1477645"/>
            <a:ext cx="11744960" cy="5194935"/>
          </a:xfrm>
        </p:spPr>
        <p:txBody>
          <a:bodyPr>
            <a:normAutofit/>
          </a:bodyPr>
          <a:p>
            <a:r>
              <a:rPr lang="en-US" sz="2000"/>
              <a:t>Model Preparation</a:t>
            </a:r>
            <a:r>
              <a:rPr lang="en-US" altLang="en-US" sz="2000"/>
              <a:t>: </a:t>
            </a:r>
            <a:r>
              <a:rPr lang="en-US" sz="2000"/>
              <a:t> Build your system: proteins, ligands, solvents (often water), ions, etc.</a:t>
            </a:r>
            <a:endParaRPr lang="en-US" sz="2000"/>
          </a:p>
          <a:p>
            <a:endParaRPr lang="en-US" sz="2000"/>
          </a:p>
          <a:p>
            <a:r>
              <a:rPr lang="en-US" sz="2000"/>
              <a:t>Force Field Assignment</a:t>
            </a:r>
            <a:r>
              <a:rPr lang="en-US" altLang="en-US" sz="2000"/>
              <a:t>:</a:t>
            </a:r>
            <a:r>
              <a:rPr lang="en-US" sz="2000"/>
              <a:t> Choose appropriate force fields like AMBER, CHARMM, OPLS, GROM</a:t>
            </a:r>
            <a:r>
              <a:rPr lang="en-US" altLang="en-US" sz="2000"/>
              <a:t>A</a:t>
            </a:r>
            <a:r>
              <a:rPr lang="en-US" sz="2000"/>
              <a:t>S, etc.</a:t>
            </a:r>
            <a:endParaRPr lang="en-US" sz="2000"/>
          </a:p>
          <a:p>
            <a:endParaRPr lang="en-US" sz="2000"/>
          </a:p>
          <a:p>
            <a:r>
              <a:rPr lang="en-US" sz="2000"/>
              <a:t>Energy Minimization</a:t>
            </a:r>
            <a:r>
              <a:rPr lang="en-US" altLang="en-US" sz="2000"/>
              <a:t>:</a:t>
            </a:r>
            <a:r>
              <a:rPr lang="en-US" sz="2000"/>
              <a:t>   Remove bad contacts or steric clashes in the system.</a:t>
            </a:r>
            <a:endParaRPr lang="en-US" sz="2000"/>
          </a:p>
          <a:p>
            <a:endParaRPr lang="en-US" sz="2000"/>
          </a:p>
          <a:p>
            <a:r>
              <a:rPr lang="en-US" sz="2000"/>
              <a:t>Equilibration</a:t>
            </a:r>
            <a:r>
              <a:rPr lang="en-US" altLang="en-US" sz="2000"/>
              <a:t>:</a:t>
            </a:r>
            <a:r>
              <a:rPr lang="en-US" sz="2000"/>
              <a:t>   Stabilize temperature (NVT ensemble) and pressure (NPT ensemble).</a:t>
            </a:r>
            <a:endParaRPr lang="en-US" sz="2000"/>
          </a:p>
          <a:p>
            <a:endParaRPr lang="en-US" sz="2000"/>
          </a:p>
          <a:p>
            <a:r>
              <a:rPr lang="en-US" sz="2000"/>
              <a:t>Production Run</a:t>
            </a:r>
            <a:r>
              <a:rPr lang="en-US" altLang="en-US" sz="2000"/>
              <a:t>:</a:t>
            </a:r>
            <a:r>
              <a:rPr lang="en-US" sz="2000"/>
              <a:t>  Perform the actual MD simulation (e.g., 100 ns, 1 μs).</a:t>
            </a:r>
            <a:endParaRPr lang="en-US" sz="2000"/>
          </a:p>
          <a:p>
            <a:endParaRPr lang="en-US" sz="2000"/>
          </a:p>
          <a:p>
            <a:r>
              <a:rPr lang="en-US" sz="2000"/>
              <a:t>Analysis</a:t>
            </a:r>
            <a:r>
              <a:rPr lang="en-US" altLang="en-US" sz="2000"/>
              <a:t>:</a:t>
            </a:r>
            <a:r>
              <a:rPr lang="en-US" sz="2000"/>
              <a:t>  Measure RMSD, RMSF, radius of gyration, hydrogen bonds, binding energy, cluster analysis, etc.</a:t>
            </a:r>
            <a:endParaRPr 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Упрощенный рабочий процесс</a:t>
            </a:r>
            <a:endParaRPr lang="en-US"/>
          </a:p>
        </p:txBody>
      </p:sp>
      <p:sp>
        <p:nvSpPr>
          <p:cNvPr id="3" name="Content Placeholder 2"/>
          <p:cNvSpPr>
            <a:spLocks noGrp="1"/>
          </p:cNvSpPr>
          <p:nvPr>
            <p:ph idx="1"/>
          </p:nvPr>
        </p:nvSpPr>
        <p:spPr>
          <a:xfrm>
            <a:off x="545465" y="1691005"/>
            <a:ext cx="11101705" cy="5121275"/>
          </a:xfrm>
        </p:spPr>
        <p:txBody>
          <a:bodyPr>
            <a:normAutofit fontScale="90000"/>
          </a:bodyPr>
          <a:p>
            <a:r>
              <a:rPr lang="en-US" sz="2000">
                <a:solidFill>
                  <a:srgbClr val="FF0000"/>
                </a:solidFill>
              </a:rPr>
              <a:t>Подготовка модели: Создайте свою систему: белки, лиганды, растворители (часто вода), ионы и т.д.</a:t>
            </a:r>
            <a:endParaRPr lang="en-US" sz="2000">
              <a:solidFill>
                <a:srgbClr val="FF0000"/>
              </a:solidFill>
            </a:endParaRPr>
          </a:p>
          <a:p>
            <a:endParaRPr lang="en-US" sz="2000">
              <a:solidFill>
                <a:srgbClr val="FF0000"/>
              </a:solidFill>
            </a:endParaRPr>
          </a:p>
          <a:p>
            <a:r>
              <a:rPr lang="en-US" sz="2000">
                <a:solidFill>
                  <a:srgbClr val="FF0000"/>
                </a:solidFill>
              </a:rPr>
              <a:t>Назначение силового поля: Выберите подходящие силовые поля, такие как AMBER, CHARMM, OPLS, GROMAS и т.д.</a:t>
            </a:r>
            <a:endParaRPr lang="en-US" sz="2000">
              <a:solidFill>
                <a:srgbClr val="FF0000"/>
              </a:solidFill>
            </a:endParaRPr>
          </a:p>
          <a:p>
            <a:endParaRPr lang="en-US" sz="2000">
              <a:solidFill>
                <a:srgbClr val="FF0000"/>
              </a:solidFill>
            </a:endParaRPr>
          </a:p>
          <a:p>
            <a:r>
              <a:rPr lang="en-US" sz="2000">
                <a:solidFill>
                  <a:srgbClr val="FF0000"/>
                </a:solidFill>
              </a:rPr>
              <a:t>Минимизация энергопотребления: Устраните поврежденные контакты или пространственные противоречия в системе.</a:t>
            </a:r>
            <a:endParaRPr lang="en-US" sz="2000">
              <a:solidFill>
                <a:srgbClr val="FF0000"/>
              </a:solidFill>
            </a:endParaRPr>
          </a:p>
          <a:p>
            <a:endParaRPr lang="en-US" sz="2000">
              <a:solidFill>
                <a:srgbClr val="FF0000"/>
              </a:solidFill>
            </a:endParaRPr>
          </a:p>
          <a:p>
            <a:r>
              <a:rPr lang="en-US" sz="2000">
                <a:solidFill>
                  <a:srgbClr val="FF0000"/>
                </a:solidFill>
              </a:rPr>
              <a:t>Уравновешивание: Стабилизируйте температуру (комплекс NVT) и давление (комплекс NPT).</a:t>
            </a:r>
            <a:endParaRPr lang="en-US" sz="2000">
              <a:solidFill>
                <a:srgbClr val="FF0000"/>
              </a:solidFill>
            </a:endParaRPr>
          </a:p>
          <a:p>
            <a:endParaRPr lang="en-US" sz="2000">
              <a:solidFill>
                <a:srgbClr val="FF0000"/>
              </a:solidFill>
            </a:endParaRPr>
          </a:p>
          <a:p>
            <a:r>
              <a:rPr lang="en-US" sz="2000">
                <a:solidFill>
                  <a:srgbClr val="FF0000"/>
                </a:solidFill>
              </a:rPr>
              <a:t>Производственный цикл: Выполните фактическое моделирование MD (например, 100 нс, 1 мкс).</a:t>
            </a:r>
            <a:endParaRPr lang="en-US" sz="2000">
              <a:solidFill>
                <a:srgbClr val="FF0000"/>
              </a:solidFill>
            </a:endParaRPr>
          </a:p>
          <a:p>
            <a:endParaRPr lang="en-US" sz="2000">
              <a:solidFill>
                <a:srgbClr val="FF0000"/>
              </a:solidFill>
            </a:endParaRPr>
          </a:p>
          <a:p>
            <a:r>
              <a:rPr lang="en-US" sz="2000">
                <a:solidFill>
                  <a:srgbClr val="FF0000"/>
                </a:solidFill>
              </a:rPr>
              <a:t>Анализ: Измерьте RMSD, RMSF, радиус вращения, водородные связи, энергию связи, кластерный анализ и т.д.</a:t>
            </a:r>
            <a:endParaRPr lang="en-US" sz="200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Popular MD Software:</a:t>
            </a:r>
            <a:endParaRPr lang="en-US"/>
          </a:p>
        </p:txBody>
      </p:sp>
      <p:sp>
        <p:nvSpPr>
          <p:cNvPr id="3" name="Content Placeholder 2"/>
          <p:cNvSpPr>
            <a:spLocks noGrp="1"/>
          </p:cNvSpPr>
          <p:nvPr>
            <p:ph idx="1"/>
          </p:nvPr>
        </p:nvSpPr>
        <p:spPr>
          <a:xfrm>
            <a:off x="288925" y="1825625"/>
            <a:ext cx="11779250" cy="4737100"/>
          </a:xfrm>
        </p:spPr>
        <p:txBody>
          <a:bodyPr>
            <a:normAutofit lnSpcReduction="10000"/>
          </a:bodyPr>
          <a:p>
            <a:r>
              <a:rPr lang="en-US" sz="2000"/>
              <a:t>GROMACS </a:t>
            </a:r>
            <a:r>
              <a:rPr lang="en-US" altLang="en-US" sz="2000"/>
              <a:t>(GROningen MAchine for Chemical Simulations)</a:t>
            </a:r>
            <a:r>
              <a:rPr lang="en-US" sz="2000"/>
              <a:t> – Fast and widely used</a:t>
            </a:r>
            <a:endParaRPr lang="en-US" sz="2000"/>
          </a:p>
          <a:p>
            <a:pPr>
              <a:buFont typeface="Arial" panose="020B0604020202020204" pitchFamily="34" charset="0"/>
              <a:buChar char="•"/>
            </a:pPr>
            <a:endParaRPr lang="en-US" sz="2000"/>
          </a:p>
          <a:p>
            <a:r>
              <a:rPr lang="en-US" sz="2000"/>
              <a:t>AMBER </a:t>
            </a:r>
            <a:r>
              <a:rPr lang="en-US" altLang="en-US" sz="2000"/>
              <a:t>(Assisted Model Building with Energy Refinement)</a:t>
            </a:r>
            <a:r>
              <a:rPr lang="en-US" sz="2000"/>
              <a:t> – Excellent for proteins and nucleic acids</a:t>
            </a:r>
            <a:endParaRPr lang="en-US" sz="2000"/>
          </a:p>
          <a:p>
            <a:pPr>
              <a:buFont typeface="Arial" panose="020B0604020202020204" pitchFamily="34" charset="0"/>
              <a:buChar char="•"/>
            </a:pPr>
            <a:endParaRPr lang="en-US" sz="2000"/>
          </a:p>
          <a:p>
            <a:r>
              <a:rPr lang="en-US" sz="2000"/>
              <a:t>NAMD </a:t>
            </a:r>
            <a:r>
              <a:rPr lang="en-US" altLang="en-US" sz="2000"/>
              <a:t>(Nanoscale Molecular Dynamics)</a:t>
            </a:r>
            <a:r>
              <a:rPr lang="en-US" sz="2000"/>
              <a:t> – Scalable for large systems</a:t>
            </a:r>
            <a:endParaRPr lang="en-US" sz="2000"/>
          </a:p>
          <a:p>
            <a:pPr>
              <a:buFont typeface="Arial" panose="020B0604020202020204" pitchFamily="34" charset="0"/>
              <a:buChar char="•"/>
            </a:pPr>
            <a:endParaRPr lang="en-US" sz="2000"/>
          </a:p>
          <a:p>
            <a:r>
              <a:rPr lang="en-US" sz="2000"/>
              <a:t>Desmond (Schrödinger) – High speed with great GUI</a:t>
            </a:r>
            <a:endParaRPr lang="en-US" sz="2000"/>
          </a:p>
          <a:p>
            <a:pPr>
              <a:buFont typeface="Arial" panose="020B0604020202020204" pitchFamily="34" charset="0"/>
              <a:buChar char="•"/>
            </a:pPr>
            <a:endParaRPr lang="en-US" sz="2000"/>
          </a:p>
          <a:p>
            <a:r>
              <a:rPr lang="en-US" sz="2000"/>
              <a:t>CHARMM </a:t>
            </a:r>
            <a:r>
              <a:rPr lang="en-US" altLang="en-US" sz="2000"/>
              <a:t>(Chemistry at HARvard Macromolecular Mechanics) </a:t>
            </a:r>
            <a:r>
              <a:rPr lang="en-US" sz="2000"/>
              <a:t>– Comprehensive force field and MD tools</a:t>
            </a:r>
            <a:endParaRPr lang="en-US" sz="2000"/>
          </a:p>
          <a:p>
            <a:pPr>
              <a:buFont typeface="Arial" panose="020B0604020202020204" pitchFamily="34" charset="0"/>
              <a:buChar char="•"/>
            </a:pPr>
            <a:endParaRPr lang="en-US" sz="2000"/>
          </a:p>
          <a:p>
            <a:r>
              <a:rPr lang="en-US" sz="2000"/>
              <a:t>OpenMM </a:t>
            </a:r>
            <a:r>
              <a:rPr lang="en-US" altLang="en-US" sz="2000"/>
              <a:t>(Open Molecular Mechanics) </a:t>
            </a:r>
            <a:r>
              <a:rPr lang="en-US" sz="2000"/>
              <a:t>– Python-friendly and GPU-accelerated</a:t>
            </a:r>
            <a:endParaRPr 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7620"/>
            <a:ext cx="10515600" cy="1325563"/>
          </a:xfrm>
        </p:spPr>
        <p:txBody>
          <a:bodyPr>
            <a:normAutofit fontScale="90000"/>
          </a:bodyPr>
          <a:p>
            <a:r>
              <a:rPr lang="en-US">
                <a:solidFill>
                  <a:srgbClr val="FF0000"/>
                </a:solidFill>
                <a:sym typeface="+mn-ea"/>
              </a:rPr>
              <a:t>Model Preparation </a:t>
            </a:r>
            <a:r>
              <a:rPr lang="en-US" altLang="en-US">
                <a:solidFill>
                  <a:srgbClr val="FF0000"/>
                </a:solidFill>
                <a:sym typeface="+mn-ea"/>
              </a:rPr>
              <a:t>using charmm-gui website</a:t>
            </a:r>
            <a:endParaRPr lang="en-US" altLang="en-US">
              <a:solidFill>
                <a:srgbClr val="FF0000"/>
              </a:solidFill>
              <a:sym typeface="+mn-ea"/>
            </a:endParaRPr>
          </a:p>
        </p:txBody>
      </p:sp>
      <p:sp>
        <p:nvSpPr>
          <p:cNvPr id="3" name="Content Placeholder 2"/>
          <p:cNvSpPr>
            <a:spLocks noGrp="1"/>
          </p:cNvSpPr>
          <p:nvPr>
            <p:ph idx="1"/>
          </p:nvPr>
        </p:nvSpPr>
        <p:spPr>
          <a:xfrm>
            <a:off x="65405" y="1189990"/>
            <a:ext cx="12061825" cy="1294765"/>
          </a:xfrm>
        </p:spPr>
        <p:txBody>
          <a:bodyPr>
            <a:normAutofit fontScale="90000" lnSpcReduction="20000"/>
          </a:bodyPr>
          <a:p>
            <a:r>
              <a:rPr lang="en-US"/>
              <a:t>Visit CHARMM-GUI: https://www.charmm-gui.org/ </a:t>
            </a:r>
            <a:endParaRPr lang="en-US"/>
          </a:p>
          <a:p>
            <a:endParaRPr lang="en-US"/>
          </a:p>
          <a:p>
            <a:r>
              <a:rPr lang="en-US"/>
              <a:t>Click on “Solution Builder</a:t>
            </a:r>
            <a:r>
              <a:rPr lang="en-US" altLang="en-US"/>
              <a:t>”</a:t>
            </a:r>
            <a:r>
              <a:rPr lang="en-US"/>
              <a:t> </a:t>
            </a:r>
            <a:r>
              <a:rPr lang="en-US" altLang="en-US"/>
              <a:t>for protein-ligand simulation</a:t>
            </a:r>
            <a:endParaRPr lang="en-US" altLang="en-US"/>
          </a:p>
          <a:p>
            <a:endParaRPr lang="en-US" altLang="en-US"/>
          </a:p>
          <a:p>
            <a:endParaRPr lang="en-US" altLang="en-US"/>
          </a:p>
          <a:p>
            <a:endParaRPr lang="en-US" altLang="en-US"/>
          </a:p>
        </p:txBody>
      </p:sp>
      <p:pic>
        <p:nvPicPr>
          <p:cNvPr id="4" name="Picture 3" descr="Screenshot from 2025-04-14 01-30-09"/>
          <p:cNvPicPr>
            <a:picLocks noChangeAspect="1"/>
          </p:cNvPicPr>
          <p:nvPr/>
        </p:nvPicPr>
        <p:blipFill>
          <a:blip r:embed="rId1"/>
          <a:stretch>
            <a:fillRect/>
          </a:stretch>
        </p:blipFill>
        <p:spPr>
          <a:xfrm>
            <a:off x="1242695" y="2447925"/>
            <a:ext cx="7989570" cy="43535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olidFill>
                  <a:srgbClr val="FF0000"/>
                </a:solidFill>
                <a:sym typeface="+mn-ea"/>
              </a:rPr>
              <a:t>Model Preparation </a:t>
            </a:r>
            <a:r>
              <a:rPr lang="en-US" altLang="en-US">
                <a:solidFill>
                  <a:srgbClr val="FF0000"/>
                </a:solidFill>
                <a:sym typeface="+mn-ea"/>
              </a:rPr>
              <a:t>using charmm-gui website</a:t>
            </a:r>
            <a:endParaRPr lang="en-US"/>
          </a:p>
        </p:txBody>
      </p:sp>
      <p:sp>
        <p:nvSpPr>
          <p:cNvPr id="3" name="Content Placeholder 2"/>
          <p:cNvSpPr>
            <a:spLocks noGrp="1"/>
          </p:cNvSpPr>
          <p:nvPr>
            <p:ph idx="1"/>
          </p:nvPr>
        </p:nvSpPr>
        <p:spPr/>
        <p:txBody>
          <a:bodyPr>
            <a:normAutofit/>
          </a:bodyPr>
          <a:p>
            <a:r>
              <a:rPr lang="en-US" altLang="en-US">
                <a:sym typeface="+mn-ea"/>
              </a:rPr>
              <a:t>Provide PDB ID or Upload the file in the a. “Protein Solution System” box.</a:t>
            </a:r>
            <a:endParaRPr lang="en-US" altLang="en-US">
              <a:sym typeface="+mn-ea"/>
            </a:endParaRPr>
          </a:p>
          <a:p>
            <a:endParaRPr lang="en-US" altLang="en-US"/>
          </a:p>
          <a:p>
            <a:pPr marL="0" indent="0">
              <a:buNone/>
            </a:pPr>
            <a:r>
              <a:rPr lang="en-US" altLang="en-US">
                <a:sym typeface="+mn-ea"/>
              </a:rPr>
              <a:t> </a:t>
            </a:r>
            <a:endParaRPr lang="en-US" altLang="en-US"/>
          </a:p>
          <a:p>
            <a:endParaRPr lang="en-US" altLang="en-US"/>
          </a:p>
        </p:txBody>
      </p:sp>
      <p:pic>
        <p:nvPicPr>
          <p:cNvPr id="4" name="Picture 3" descr="Screenshot from 2025-04-14 01-33-30"/>
          <p:cNvPicPr>
            <a:picLocks noChangeAspect="1"/>
          </p:cNvPicPr>
          <p:nvPr/>
        </p:nvPicPr>
        <p:blipFill>
          <a:blip r:embed="rId1"/>
          <a:stretch>
            <a:fillRect/>
          </a:stretch>
        </p:blipFill>
        <p:spPr>
          <a:xfrm>
            <a:off x="1374775" y="2944495"/>
            <a:ext cx="9687560" cy="3799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olidFill>
                  <a:srgbClr val="FF0000"/>
                </a:solidFill>
                <a:sym typeface="+mn-ea"/>
              </a:rPr>
              <a:t>Model Preparation </a:t>
            </a:r>
            <a:r>
              <a:rPr lang="en-US" altLang="en-US">
                <a:solidFill>
                  <a:srgbClr val="FF0000"/>
                </a:solidFill>
                <a:sym typeface="+mn-ea"/>
              </a:rPr>
              <a:t>using charmm-gui website</a:t>
            </a:r>
            <a:br>
              <a:rPr lang="en-US"/>
            </a:br>
            <a:endParaRPr lang="en-US"/>
          </a:p>
        </p:txBody>
      </p:sp>
      <p:sp>
        <p:nvSpPr>
          <p:cNvPr id="3" name="Content Placeholder 2"/>
          <p:cNvSpPr>
            <a:spLocks noGrp="1"/>
          </p:cNvSpPr>
          <p:nvPr>
            <p:ph idx="1"/>
          </p:nvPr>
        </p:nvSpPr>
        <p:spPr>
          <a:xfrm>
            <a:off x="838200" y="1070610"/>
            <a:ext cx="10026015" cy="620395"/>
          </a:xfrm>
        </p:spPr>
        <p:txBody>
          <a:bodyPr>
            <a:normAutofit/>
          </a:bodyPr>
          <a:p>
            <a:r>
              <a:rPr lang="en-US" altLang="en-US">
                <a:sym typeface="+mn-ea"/>
              </a:rPr>
              <a:t> Click on “Next Step: Select Model/Chain” </a:t>
            </a:r>
            <a:endParaRPr lang="en-US" altLang="en-US"/>
          </a:p>
          <a:p>
            <a:endParaRPr lang="en-US" altLang="en-US"/>
          </a:p>
          <a:p>
            <a:endParaRPr lang="en-US"/>
          </a:p>
        </p:txBody>
      </p:sp>
      <p:pic>
        <p:nvPicPr>
          <p:cNvPr id="4" name="Picture 3" descr="Screenshot from 2025-04-14 01-35-44"/>
          <p:cNvPicPr>
            <a:picLocks noChangeAspect="1"/>
          </p:cNvPicPr>
          <p:nvPr/>
        </p:nvPicPr>
        <p:blipFill>
          <a:blip r:embed="rId1"/>
          <a:stretch>
            <a:fillRect/>
          </a:stretch>
        </p:blipFill>
        <p:spPr>
          <a:xfrm>
            <a:off x="2466975" y="1530985"/>
            <a:ext cx="7257415" cy="52857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olidFill>
                  <a:srgbClr val="FF0000"/>
                </a:solidFill>
                <a:sym typeface="+mn-ea"/>
              </a:rPr>
              <a:t>Model Preparation </a:t>
            </a:r>
            <a:r>
              <a:rPr lang="en-US" altLang="en-US">
                <a:solidFill>
                  <a:srgbClr val="FF0000"/>
                </a:solidFill>
                <a:sym typeface="+mn-ea"/>
              </a:rPr>
              <a:t>using charmm-gui website</a:t>
            </a:r>
            <a:endParaRPr lang="en-US"/>
          </a:p>
        </p:txBody>
      </p:sp>
      <p:sp>
        <p:nvSpPr>
          <p:cNvPr id="3" name="Content Placeholder 2"/>
          <p:cNvSpPr>
            <a:spLocks noGrp="1"/>
          </p:cNvSpPr>
          <p:nvPr>
            <p:ph idx="1"/>
          </p:nvPr>
        </p:nvSpPr>
        <p:spPr/>
        <p:txBody>
          <a:bodyPr>
            <a:normAutofit/>
          </a:bodyPr>
          <a:p>
            <a:r>
              <a:rPr lang="en-US" altLang="en-US">
                <a:sym typeface="+mn-ea"/>
              </a:rPr>
              <a:t>Click on “Next Step:Manipulate PDB” </a:t>
            </a:r>
            <a:endParaRPr lang="en-US" altLang="en-US">
              <a:sym typeface="+mn-ea"/>
            </a:endParaRPr>
          </a:p>
          <a:p>
            <a:endParaRPr lang="en-US" altLang="en-US"/>
          </a:p>
          <a:p>
            <a:endParaRPr lang="en-US"/>
          </a:p>
        </p:txBody>
      </p:sp>
      <p:pic>
        <p:nvPicPr>
          <p:cNvPr id="4" name="Picture 3" descr="Screenshot from 2025-04-14 01-38-00"/>
          <p:cNvPicPr>
            <a:picLocks noChangeAspect="1"/>
          </p:cNvPicPr>
          <p:nvPr/>
        </p:nvPicPr>
        <p:blipFill>
          <a:blip r:embed="rId1"/>
          <a:stretch>
            <a:fillRect/>
          </a:stretch>
        </p:blipFill>
        <p:spPr>
          <a:xfrm>
            <a:off x="1359535" y="2453640"/>
            <a:ext cx="9018905" cy="3723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2700"/>
            <a:ext cx="10515600" cy="1325563"/>
          </a:xfrm>
        </p:spPr>
        <p:txBody>
          <a:bodyPr>
            <a:normAutofit fontScale="90000"/>
          </a:bodyPr>
          <a:p>
            <a:r>
              <a:rPr lang="en-US">
                <a:solidFill>
                  <a:srgbClr val="FF0000"/>
                </a:solidFill>
                <a:sym typeface="+mn-ea"/>
              </a:rPr>
              <a:t>Model Preparation </a:t>
            </a:r>
            <a:r>
              <a:rPr lang="en-US" altLang="en-US">
                <a:solidFill>
                  <a:srgbClr val="FF0000"/>
                </a:solidFill>
                <a:sym typeface="+mn-ea"/>
              </a:rPr>
              <a:t>using charmm-gui website</a:t>
            </a:r>
            <a:endParaRPr lang="en-US"/>
          </a:p>
        </p:txBody>
      </p:sp>
      <p:sp>
        <p:nvSpPr>
          <p:cNvPr id="3" name="Content Placeholder 2"/>
          <p:cNvSpPr>
            <a:spLocks noGrp="1"/>
          </p:cNvSpPr>
          <p:nvPr>
            <p:ph idx="1"/>
          </p:nvPr>
        </p:nvSpPr>
        <p:spPr>
          <a:xfrm>
            <a:off x="328295" y="995680"/>
            <a:ext cx="10515600" cy="709295"/>
          </a:xfrm>
        </p:spPr>
        <p:txBody>
          <a:bodyPr>
            <a:normAutofit fontScale="90000" lnSpcReduction="20000"/>
          </a:bodyPr>
          <a:p>
            <a:r>
              <a:rPr lang="en-US">
                <a:sym typeface="+mn-ea"/>
              </a:rPr>
              <a:t>Take a note of Ion Count to neutralize the system </a:t>
            </a:r>
            <a:r>
              <a:rPr lang="en-US" altLang="en-US">
                <a:sym typeface="+mn-ea"/>
              </a:rPr>
              <a:t>(Keep the other parameters as default)</a:t>
            </a:r>
            <a:endParaRPr lang="en-US" altLang="en-US">
              <a:sym typeface="+mn-ea"/>
            </a:endParaRPr>
          </a:p>
          <a:p>
            <a:endParaRPr lang="en-US" altLang="en-US"/>
          </a:p>
          <a:p>
            <a:endParaRPr lang="en-US" altLang="en-US"/>
          </a:p>
          <a:p>
            <a:endParaRPr lang="en-US"/>
          </a:p>
          <a:p>
            <a:endParaRPr lang="en-US"/>
          </a:p>
        </p:txBody>
      </p:sp>
      <p:pic>
        <p:nvPicPr>
          <p:cNvPr id="4" name="Picture 3" descr="Screenshot from 2025-04-14 01-39-40"/>
          <p:cNvPicPr>
            <a:picLocks noChangeAspect="1"/>
          </p:cNvPicPr>
          <p:nvPr/>
        </p:nvPicPr>
        <p:blipFill>
          <a:blip r:embed="rId1"/>
          <a:stretch>
            <a:fillRect/>
          </a:stretch>
        </p:blipFill>
        <p:spPr>
          <a:xfrm>
            <a:off x="2849880" y="1714500"/>
            <a:ext cx="7682230" cy="49510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olidFill>
                  <a:srgbClr val="FF0000"/>
                </a:solidFill>
                <a:sym typeface="+mn-ea"/>
              </a:rPr>
              <a:t>Model Preparation </a:t>
            </a:r>
            <a:r>
              <a:rPr lang="en-US" altLang="en-US">
                <a:solidFill>
                  <a:srgbClr val="FF0000"/>
                </a:solidFill>
                <a:sym typeface="+mn-ea"/>
              </a:rPr>
              <a:t>using charmm-gui website</a:t>
            </a:r>
            <a:endParaRPr lang="en-US"/>
          </a:p>
        </p:txBody>
      </p:sp>
      <p:sp>
        <p:nvSpPr>
          <p:cNvPr id="3" name="Content Placeholder 2"/>
          <p:cNvSpPr>
            <a:spLocks noGrp="1"/>
          </p:cNvSpPr>
          <p:nvPr>
            <p:ph idx="1"/>
          </p:nvPr>
        </p:nvSpPr>
        <p:spPr>
          <a:xfrm>
            <a:off x="838200" y="1504315"/>
            <a:ext cx="10175875" cy="1124585"/>
          </a:xfrm>
        </p:spPr>
        <p:txBody>
          <a:bodyPr>
            <a:normAutofit lnSpcReduction="20000"/>
          </a:bodyPr>
          <a:p>
            <a:r>
              <a:rPr lang="en-US" altLang="en-US">
                <a:sym typeface="+mn-ea"/>
              </a:rPr>
              <a:t>Check “Periodic Boundary Condition Options: Generate grid information for PME FFT automatically” and Click on “Next: Setup Periodic Boundary Condition”. </a:t>
            </a:r>
            <a:endParaRPr lang="en-US" altLang="en-US">
              <a:sym typeface="+mn-ea"/>
            </a:endParaRPr>
          </a:p>
          <a:p>
            <a:endParaRPr lang="en-US" altLang="en-US"/>
          </a:p>
          <a:p>
            <a:endParaRPr lang="en-US"/>
          </a:p>
        </p:txBody>
      </p:sp>
      <p:pic>
        <p:nvPicPr>
          <p:cNvPr id="4" name="Picture 3" descr="Screenshot from 2025-04-13 19-06-04"/>
          <p:cNvPicPr>
            <a:picLocks noChangeAspect="1"/>
          </p:cNvPicPr>
          <p:nvPr/>
        </p:nvPicPr>
        <p:blipFill>
          <a:blip r:embed="rId1"/>
          <a:stretch>
            <a:fillRect/>
          </a:stretch>
        </p:blipFill>
        <p:spPr>
          <a:xfrm>
            <a:off x="2649220" y="2848610"/>
            <a:ext cx="5723890" cy="33521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0"/>
            <a:ext cx="10515600" cy="986155"/>
          </a:xfrm>
        </p:spPr>
        <p:txBody>
          <a:bodyPr>
            <a:normAutofit fontScale="90000"/>
          </a:bodyPr>
          <a:p>
            <a:r>
              <a:rPr lang="en-US">
                <a:solidFill>
                  <a:srgbClr val="FF0000"/>
                </a:solidFill>
                <a:sym typeface="+mn-ea"/>
              </a:rPr>
              <a:t>Model Preparation </a:t>
            </a:r>
            <a:r>
              <a:rPr lang="en-US" altLang="en-US">
                <a:solidFill>
                  <a:srgbClr val="FF0000"/>
                </a:solidFill>
                <a:sym typeface="+mn-ea"/>
              </a:rPr>
              <a:t>using charmm-gui website</a:t>
            </a:r>
            <a:endParaRPr lang="en-US"/>
          </a:p>
        </p:txBody>
      </p:sp>
      <p:sp>
        <p:nvSpPr>
          <p:cNvPr id="3" name="Content Placeholder 2"/>
          <p:cNvSpPr>
            <a:spLocks noGrp="1"/>
          </p:cNvSpPr>
          <p:nvPr>
            <p:ph idx="1"/>
          </p:nvPr>
        </p:nvSpPr>
        <p:spPr>
          <a:xfrm>
            <a:off x="234315" y="784860"/>
            <a:ext cx="11459845" cy="1162685"/>
          </a:xfrm>
        </p:spPr>
        <p:txBody>
          <a:bodyPr>
            <a:normAutofit/>
          </a:bodyPr>
          <a:p>
            <a:r>
              <a:rPr lang="en-US" altLang="en-US" sz="2400">
                <a:sym typeface="+mn-ea"/>
              </a:rPr>
              <a:t>Select “AMBER” under Input Generation Options, Check “NPT Ensemble” under Dynamics Input Generation Options. and set the temperature to be 310K</a:t>
            </a:r>
            <a:endParaRPr lang="en-US" altLang="en-US" sz="2400"/>
          </a:p>
          <a:p>
            <a:endParaRPr lang="en-US" sz="2400"/>
          </a:p>
          <a:p>
            <a:endParaRPr lang="en-US" sz="2400"/>
          </a:p>
        </p:txBody>
      </p:sp>
      <p:pic>
        <p:nvPicPr>
          <p:cNvPr id="4" name="Picture 3" descr="Screenshot from 2025-04-13 19-35-29"/>
          <p:cNvPicPr>
            <a:picLocks noChangeAspect="1"/>
          </p:cNvPicPr>
          <p:nvPr/>
        </p:nvPicPr>
        <p:blipFill>
          <a:blip r:embed="rId1"/>
          <a:stretch>
            <a:fillRect/>
          </a:stretch>
        </p:blipFill>
        <p:spPr>
          <a:xfrm>
            <a:off x="1835785" y="1565910"/>
            <a:ext cx="8987155" cy="5118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solidFill>
                  <a:srgbClr val="FF0000"/>
                </a:solidFill>
                <a:sym typeface="+mn-ea"/>
              </a:rPr>
              <a:t>Model Preparation </a:t>
            </a:r>
            <a:r>
              <a:rPr lang="en-US" altLang="en-US">
                <a:solidFill>
                  <a:srgbClr val="FF0000"/>
                </a:solidFill>
                <a:sym typeface="+mn-ea"/>
              </a:rPr>
              <a:t>using charmm-gui website</a:t>
            </a:r>
            <a:br>
              <a:rPr lang="en-US"/>
            </a:br>
            <a:endParaRPr lang="en-US"/>
          </a:p>
        </p:txBody>
      </p:sp>
      <p:sp>
        <p:nvSpPr>
          <p:cNvPr id="3" name="Content Placeholder 2"/>
          <p:cNvSpPr>
            <a:spLocks noGrp="1"/>
          </p:cNvSpPr>
          <p:nvPr>
            <p:ph idx="1"/>
          </p:nvPr>
        </p:nvSpPr>
        <p:spPr>
          <a:xfrm>
            <a:off x="838200" y="1410970"/>
            <a:ext cx="10515600" cy="4956175"/>
          </a:xfrm>
        </p:spPr>
        <p:txBody>
          <a:bodyPr>
            <a:normAutofit/>
          </a:bodyPr>
          <a:p>
            <a:r>
              <a:rPr lang="en-US" altLang="en-US"/>
              <a:t>Download your topology file for simulation.</a:t>
            </a:r>
            <a:endParaRPr lang="en-US" altLang="en-US"/>
          </a:p>
          <a:p>
            <a:endParaRPr lang="en-US" altLang="en-US"/>
          </a:p>
          <a:p>
            <a:endParaRPr lang="en-US" altLang="en-US"/>
          </a:p>
        </p:txBody>
      </p:sp>
      <p:pic>
        <p:nvPicPr>
          <p:cNvPr id="4" name="Picture 3" descr="Screenshot from 2025-04-14 01-53-33"/>
          <p:cNvPicPr>
            <a:picLocks noChangeAspect="1"/>
          </p:cNvPicPr>
          <p:nvPr/>
        </p:nvPicPr>
        <p:blipFill>
          <a:blip r:embed="rId1"/>
          <a:stretch>
            <a:fillRect/>
          </a:stretch>
        </p:blipFill>
        <p:spPr>
          <a:xfrm>
            <a:off x="838200" y="2197735"/>
            <a:ext cx="9824085" cy="27717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olidFill>
                  <a:srgbClr val="FF0000"/>
                </a:solidFill>
                <a:sym typeface="+mn-ea"/>
              </a:rPr>
              <a:t>Simulation steps:</a:t>
            </a:r>
            <a:endParaRPr lang="en-US" altLang="en-US">
              <a:solidFill>
                <a:srgbClr val="FF0000"/>
              </a:solidFill>
              <a:sym typeface="+mn-ea"/>
            </a:endParaRPr>
          </a:p>
        </p:txBody>
      </p:sp>
      <p:sp>
        <p:nvSpPr>
          <p:cNvPr id="3" name="Content Placeholder 2"/>
          <p:cNvSpPr>
            <a:spLocks noGrp="1"/>
          </p:cNvSpPr>
          <p:nvPr>
            <p:ph idx="1"/>
          </p:nvPr>
        </p:nvSpPr>
        <p:spPr/>
        <p:txBody>
          <a:bodyPr>
            <a:normAutofit/>
          </a:bodyPr>
          <a:p>
            <a:pPr marL="0" indent="0">
              <a:buNone/>
            </a:pPr>
            <a:endParaRPr lang="en-US" altLang="en-US"/>
          </a:p>
          <a:p>
            <a:pPr marL="0" indent="0">
              <a:buNone/>
            </a:pPr>
            <a:r>
              <a:rPr lang="en-US">
                <a:sym typeface="+mn-ea"/>
              </a:rPr>
              <a:t>Energy Minimization</a:t>
            </a:r>
            <a:r>
              <a:rPr lang="en-US" altLang="en-US">
                <a:sym typeface="+mn-ea"/>
              </a:rPr>
              <a:t>:</a:t>
            </a:r>
            <a:r>
              <a:rPr lang="en-US">
                <a:sym typeface="+mn-ea"/>
              </a:rPr>
              <a:t>   Remove bad contacts or steric clashes in the system.</a:t>
            </a:r>
            <a:endParaRPr lang="en-US"/>
          </a:p>
          <a:p>
            <a:pPr marL="0" indent="0">
              <a:buNone/>
            </a:pPr>
            <a:endParaRPr lang="en-US"/>
          </a:p>
          <a:p>
            <a:pPr marL="0" indent="0">
              <a:buNone/>
            </a:pPr>
            <a:r>
              <a:rPr lang="en-US">
                <a:sym typeface="+mn-ea"/>
              </a:rPr>
              <a:t>Equilibration</a:t>
            </a:r>
            <a:r>
              <a:rPr lang="en-US" altLang="en-US">
                <a:sym typeface="+mn-ea"/>
              </a:rPr>
              <a:t>:</a:t>
            </a:r>
            <a:r>
              <a:rPr lang="en-US">
                <a:sym typeface="+mn-ea"/>
              </a:rPr>
              <a:t>  Stabilize temperature (NVT ensemble) and pressure (NPT ensemble).</a:t>
            </a:r>
            <a:endParaRPr lang="en-US"/>
          </a:p>
          <a:p>
            <a:pPr marL="0" indent="0">
              <a:buNone/>
            </a:pPr>
            <a:endParaRPr lang="en-US"/>
          </a:p>
          <a:p>
            <a:pPr marL="0" indent="0">
              <a:buNone/>
            </a:pPr>
            <a:r>
              <a:rPr lang="en-US">
                <a:sym typeface="+mn-ea"/>
              </a:rPr>
              <a:t>Production Run</a:t>
            </a:r>
            <a:r>
              <a:rPr lang="en-US" altLang="en-US">
                <a:sym typeface="+mn-ea"/>
              </a:rPr>
              <a:t>:</a:t>
            </a:r>
            <a:r>
              <a:rPr lang="en-US">
                <a:sym typeface="+mn-ea"/>
              </a:rPr>
              <a:t>  Perform the actual MD simulation (e.g., 100 ns, 1 μs).</a:t>
            </a:r>
            <a:endParaRPr lang="en-US"/>
          </a:p>
          <a:p>
            <a:pPr marL="0" indent="0">
              <a:buNone/>
            </a:pPr>
            <a:endParaRPr lang="en-US"/>
          </a:p>
          <a:p>
            <a:pPr marL="0" indent="0">
              <a:buNone/>
            </a:pPr>
            <a:endParaRPr lang="en-US" altLang="en-US"/>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rgbClr val="FF0000"/>
                </a:solidFill>
                <a:sym typeface="+mn-ea"/>
              </a:rPr>
              <a:t>Analysis</a:t>
            </a:r>
            <a:r>
              <a:rPr lang="en-US" altLang="en-US">
                <a:solidFill>
                  <a:srgbClr val="FF0000"/>
                </a:solidFill>
                <a:sym typeface="+mn-ea"/>
              </a:rPr>
              <a:t>:</a:t>
            </a:r>
            <a:endParaRPr lang="en-US" altLang="en-US">
              <a:solidFill>
                <a:srgbClr val="FF0000"/>
              </a:solidFill>
              <a:sym typeface="+mn-ea"/>
            </a:endParaRPr>
          </a:p>
        </p:txBody>
      </p:sp>
      <p:sp>
        <p:nvSpPr>
          <p:cNvPr id="3" name="Content Placeholder 2"/>
          <p:cNvSpPr>
            <a:spLocks noGrp="1"/>
          </p:cNvSpPr>
          <p:nvPr>
            <p:ph idx="1"/>
          </p:nvPr>
        </p:nvSpPr>
        <p:spPr>
          <a:xfrm>
            <a:off x="838200" y="1485900"/>
            <a:ext cx="10515600" cy="4351338"/>
          </a:xfrm>
        </p:spPr>
        <p:txBody>
          <a:bodyPr>
            <a:normAutofit lnSpcReduction="10000"/>
          </a:bodyPr>
          <a:p>
            <a:pPr marL="0" indent="0">
              <a:buNone/>
            </a:pPr>
            <a:r>
              <a:rPr lang="en-US">
                <a:sym typeface="+mn-ea"/>
              </a:rPr>
              <a:t>Measure RMSD, RMSF, </a:t>
            </a:r>
            <a:endParaRPr lang="en-US">
              <a:sym typeface="+mn-ea"/>
            </a:endParaRPr>
          </a:p>
          <a:p>
            <a:pPr marL="0" indent="0">
              <a:buNone/>
            </a:pPr>
            <a:endParaRPr lang="en-US">
              <a:sym typeface="+mn-ea"/>
            </a:endParaRPr>
          </a:p>
          <a:p>
            <a:pPr marL="0" indent="0">
              <a:buNone/>
            </a:pPr>
            <a:r>
              <a:rPr lang="en-US" altLang="en-US">
                <a:sym typeface="+mn-ea"/>
              </a:rPr>
              <a:t>R</a:t>
            </a:r>
            <a:r>
              <a:rPr lang="en-US">
                <a:sym typeface="+mn-ea"/>
              </a:rPr>
              <a:t>adius of gyration, </a:t>
            </a:r>
            <a:endParaRPr lang="en-US">
              <a:sym typeface="+mn-ea"/>
            </a:endParaRPr>
          </a:p>
          <a:p>
            <a:pPr marL="0" indent="0">
              <a:buNone/>
            </a:pPr>
            <a:endParaRPr lang="en-US">
              <a:sym typeface="+mn-ea"/>
            </a:endParaRPr>
          </a:p>
          <a:p>
            <a:pPr marL="0" indent="0">
              <a:buNone/>
            </a:pPr>
            <a:r>
              <a:rPr lang="en-US" altLang="en-US">
                <a:sym typeface="+mn-ea"/>
              </a:rPr>
              <a:t>H</a:t>
            </a:r>
            <a:r>
              <a:rPr lang="en-US">
                <a:sym typeface="+mn-ea"/>
              </a:rPr>
              <a:t>ydrogen bonds,</a:t>
            </a:r>
            <a:endParaRPr lang="en-US">
              <a:sym typeface="+mn-ea"/>
            </a:endParaRPr>
          </a:p>
          <a:p>
            <a:pPr marL="0" indent="0">
              <a:buNone/>
            </a:pPr>
            <a:endParaRPr lang="en-US">
              <a:sym typeface="+mn-ea"/>
            </a:endParaRPr>
          </a:p>
          <a:p>
            <a:pPr marL="0" indent="0">
              <a:buNone/>
            </a:pPr>
            <a:r>
              <a:rPr lang="en-US" altLang="en-US">
                <a:sym typeface="+mn-ea"/>
              </a:rPr>
              <a:t>B</a:t>
            </a:r>
            <a:r>
              <a:rPr lang="en-US">
                <a:sym typeface="+mn-ea"/>
              </a:rPr>
              <a:t>inding energy, </a:t>
            </a:r>
            <a:endParaRPr lang="en-US">
              <a:sym typeface="+mn-ea"/>
            </a:endParaRPr>
          </a:p>
          <a:p>
            <a:pPr marL="0" indent="0">
              <a:buNone/>
            </a:pPr>
            <a:endParaRPr lang="en-US">
              <a:sym typeface="+mn-ea"/>
            </a:endParaRPr>
          </a:p>
          <a:p>
            <a:pPr marL="0" indent="0">
              <a:buNone/>
            </a:pPr>
            <a:r>
              <a:rPr lang="en-US" altLang="en-US">
                <a:sym typeface="+mn-ea"/>
              </a:rPr>
              <a:t>C</a:t>
            </a:r>
            <a:r>
              <a:rPr lang="en-US">
                <a:sym typeface="+mn-ea"/>
              </a:rPr>
              <a:t>luster analysis, etc.</a:t>
            </a:r>
            <a:endParaRPr lang="en-US"/>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 altLang="en-US" b="1"/>
              <a:t>Membrane complex simulation</a:t>
            </a:r>
            <a:endParaRPr lang="" altLang="en-US" b="1"/>
          </a:p>
        </p:txBody>
      </p:sp>
      <p:sp>
        <p:nvSpPr>
          <p:cNvPr id="9" name="Text Box 8"/>
          <p:cNvSpPr txBox="1"/>
          <p:nvPr/>
        </p:nvSpPr>
        <p:spPr>
          <a:xfrm>
            <a:off x="534035" y="1691005"/>
            <a:ext cx="11124565" cy="4399915"/>
          </a:xfrm>
          <a:prstGeom prst="rect">
            <a:avLst/>
          </a:prstGeom>
          <a:noFill/>
        </p:spPr>
        <p:txBody>
          <a:bodyPr wrap="square" rtlCol="0" anchor="t">
            <a:spAutoFit/>
          </a:bodyPr>
          <a:p>
            <a:r>
              <a:rPr lang="en-US" sz="2000"/>
              <a:t>Membrane proteins </a:t>
            </a:r>
            <a:r>
              <a:rPr lang="" altLang="en-US" sz="2000"/>
              <a:t>(G-Protein Coupled Receptors, Glucose transporter, P-glycoprotein etc) </a:t>
            </a:r>
            <a:r>
              <a:rPr lang="en-US" sz="2000"/>
              <a:t>perform multiple functions and are vital to the survival of all organisms</a:t>
            </a:r>
            <a:r>
              <a:rPr lang="" altLang="en-US" sz="2000"/>
              <a:t>.</a:t>
            </a:r>
            <a:endParaRPr lang="" altLang="en-US" sz="2000"/>
          </a:p>
          <a:p>
            <a:endParaRPr lang="" altLang="en-US" sz="2000"/>
          </a:p>
          <a:p>
            <a:r>
              <a:rPr lang="" altLang="en-US" sz="2000" b="1">
                <a:solidFill>
                  <a:srgbClr val="FF0000"/>
                </a:solidFill>
              </a:rPr>
              <a:t>Мембранные белки (рецепторы, связанные с G-белком, переносчик глюкозы, P-гликопротеин и т.д.) выполняют множество функций и жизненно важны для выживания всех организмов.</a:t>
            </a:r>
            <a:endParaRPr lang="" altLang="en-US" sz="2000" b="1">
              <a:solidFill>
                <a:srgbClr val="FF0000"/>
              </a:solidFill>
            </a:endParaRPr>
          </a:p>
          <a:p>
            <a:endParaRPr lang="" altLang="en-US" sz="2000" b="1">
              <a:solidFill>
                <a:srgbClr val="FF0000"/>
              </a:solidFill>
            </a:endParaRPr>
          </a:p>
          <a:p>
            <a:r>
              <a:rPr lang="" altLang="en-US" sz="2000"/>
              <a:t>The reasons for embedding a protein complex into a membrane in molecular dynamics (MD) modeling: Biological realism, correct protein behavior, some proteins need certain lipid molecules (such as cholesterol, PIP2) for proper functioning, which allows studying membrane-dependent functions.</a:t>
            </a:r>
            <a:endParaRPr lang="" altLang="en-US" sz="2000"/>
          </a:p>
          <a:p>
            <a:endParaRPr lang="" altLang="en-US" sz="2000"/>
          </a:p>
          <a:p>
            <a:r>
              <a:rPr lang="" altLang="en-US" sz="2000" b="1">
                <a:solidFill>
                  <a:srgbClr val="FF0000"/>
                </a:solidFill>
              </a:rPr>
              <a:t>Причины встраивания белкового комплекса в мембрану при моделировании молекулярной динамики (MD): Биологический реализм, правильное поведение белка, некоторые белки нуждаются в определенных липидных молекулах (таких как холестерин, PIP2) для правильного функционирования, что позволяет изучать мембранозависимые функции</a:t>
            </a:r>
            <a:endParaRPr lang="" altLang="en-US" sz="2000" b="1">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Membrane complex simulation</a:t>
            </a:r>
            <a:endParaRPr lang="en-US" altLang="en-US" b="1"/>
          </a:p>
        </p:txBody>
      </p:sp>
      <p:sp>
        <p:nvSpPr>
          <p:cNvPr id="9" name="Text Box 8"/>
          <p:cNvSpPr txBox="1"/>
          <p:nvPr/>
        </p:nvSpPr>
        <p:spPr>
          <a:xfrm>
            <a:off x="534035" y="1691005"/>
            <a:ext cx="4446905" cy="4399915"/>
          </a:xfrm>
          <a:prstGeom prst="rect">
            <a:avLst/>
          </a:prstGeom>
          <a:noFill/>
        </p:spPr>
        <p:txBody>
          <a:bodyPr wrap="square" rtlCol="0" anchor="t">
            <a:spAutoFit/>
          </a:bodyPr>
          <a:p>
            <a:r>
              <a:rPr lang="en-US" sz="2000"/>
              <a:t> POPC (1-palmitoyl-2-oleoyl-sn-glycero-3-phosphocholine) </a:t>
            </a:r>
            <a:r>
              <a:rPr lang="" altLang="en-US" sz="2000"/>
              <a:t>is often used </a:t>
            </a:r>
            <a:r>
              <a:rPr lang="en-US" sz="2000"/>
              <a:t>in membrane simulations </a:t>
            </a:r>
            <a:r>
              <a:rPr lang="" altLang="en-US" sz="2000"/>
              <a:t>because It’s realistic, stable, easy to simulate, and widely biologically relevant.</a:t>
            </a:r>
            <a:endParaRPr lang="" altLang="en-US" sz="2000"/>
          </a:p>
          <a:p>
            <a:endParaRPr lang="" altLang="en-US" sz="2000"/>
          </a:p>
          <a:p>
            <a:endParaRPr lang="" altLang="en-US" sz="2000"/>
          </a:p>
          <a:p>
            <a:r>
              <a:rPr lang="" altLang="en-US" sz="2000" b="1">
                <a:solidFill>
                  <a:srgbClr val="FF0000"/>
                </a:solidFill>
              </a:rPr>
              <a:t>POPC (1-пальмитоил-2-олеоил-sn-глицеро-3-фосфохолин) часто используется при моделировании мембран, поскольку он реалистичен, стабилен, прост в моделировании и широко применим с биологической точки зрения.</a:t>
            </a:r>
            <a:endParaRPr lang="" altLang="en-US" sz="2000" b="1">
              <a:solidFill>
                <a:srgbClr val="FF0000"/>
              </a:solidFill>
            </a:endParaRPr>
          </a:p>
        </p:txBody>
      </p:sp>
      <p:graphicFrame>
        <p:nvGraphicFramePr>
          <p:cNvPr id="4" name="Table 3"/>
          <p:cNvGraphicFramePr/>
          <p:nvPr/>
        </p:nvGraphicFramePr>
        <p:xfrm>
          <a:off x="6096000" y="686943"/>
          <a:ext cx="0" cy="0"/>
        </p:xfrm>
        <a:graphic>
          <a:graphicData uri="http://schemas.openxmlformats.org/drawingml/2006/table">
            <a:tbl>
              <a:tblPr firstRow="1" bandRow="1">
                <a:tableStyleId>{5940675A-B579-460E-94D1-54222C63F5DA}</a:tableStyleId>
              </a:tblPr>
              <a:tblGrid>
                <a:gridCol w="0"/>
                <a:gridCol w="0"/>
                <a:gridCol w="0"/>
              </a:tblGrid>
              <a:tr h="130175">
                <a:tc>
                  <a:txBody>
                    <a:bodyPr/>
                    <a:p>
                      <a:pPr indent="0">
                        <a:buNone/>
                      </a:pPr>
                      <a:r>
                        <a:rPr lang="en-US" sz="100" b="0">
                          <a:latin typeface="Cambria" charset="0"/>
                          <a:cs typeface="Cambria" charset="0"/>
                        </a:rPr>
                        <a:t>Membrane Type</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Main Lipids</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When to Use</a:t>
                      </a:r>
                      <a:endParaRPr lang="en-US" sz="100" b="0">
                        <a:latin typeface="Cambria" charset="0"/>
                        <a:ea typeface="Cambria" charset="0"/>
                        <a:cs typeface="Cambria" charset="0"/>
                      </a:endParaRPr>
                    </a:p>
                  </a:txBody>
                  <a:tcPr marL="68580" marR="68580" marT="0" marB="0" vert="horz" anchor="t" anchorCtr="0">
                    <a:lnL>
                      <a:noFill/>
                    </a:lnL>
                    <a:lnR cap="flat">
                      <a:noFill/>
                    </a:lnR>
                    <a:lnT cap="flat">
                      <a:noFill/>
                    </a:lnT>
                    <a:lnB cap="flat">
                      <a:noFill/>
                    </a:lnB>
                    <a:lnTlToBr>
                      <a:noFill/>
                    </a:lnTlToBr>
                    <a:lnBlToTr>
                      <a:noFill/>
                    </a:lnBlToTr>
                    <a:noFill/>
                  </a:tcPr>
                </a:tc>
              </a:tr>
              <a:tr h="542925">
                <a:tc>
                  <a:txBody>
                    <a:bodyPr/>
                    <a:p>
                      <a:pPr indent="0">
                        <a:buNone/>
                      </a:pPr>
                      <a:r>
                        <a:rPr lang="en-US" sz="100" b="0">
                          <a:latin typeface="Cambria" charset="0"/>
                          <a:cs typeface="Cambria" charset="0"/>
                        </a:rPr>
                        <a:t>Plasma Membrane (Eukaryotic)</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POPC, POPE, cholesterol, sphingomyelin (SM), PIP2</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For mammalian cell surface proteins (e.g., GPCRs, receptors)</a:t>
                      </a:r>
                      <a:endParaRPr lang="en-US" sz="100" b="0">
                        <a:latin typeface="Cambria" charset="0"/>
                        <a:ea typeface="Cambria" charset="0"/>
                        <a:cs typeface="Cambria" charset="0"/>
                      </a:endParaRPr>
                    </a:p>
                  </a:txBody>
                  <a:tcPr marL="68580" marR="68580" marT="0" marB="0" vert="horz" anchor="t" anchorCtr="0">
                    <a:lnL>
                      <a:noFill/>
                    </a:lnL>
                    <a:lnR cap="flat">
                      <a:noFill/>
                    </a:lnR>
                    <a:lnT cap="flat">
                      <a:noFill/>
                    </a:lnT>
                    <a:lnB cap="flat">
                      <a:noFill/>
                    </a:lnB>
                    <a:lnTlToBr>
                      <a:noFill/>
                    </a:lnTlToBr>
                    <a:lnBlToTr>
                      <a:noFill/>
                    </a:lnBlToTr>
                    <a:noFill/>
                  </a:tcPr>
                </a:tc>
              </a:tr>
              <a:tr h="705485">
                <a:tc>
                  <a:txBody>
                    <a:bodyPr/>
                    <a:p>
                      <a:pPr indent="0">
                        <a:buNone/>
                      </a:pPr>
                      <a:r>
                        <a:rPr lang="en-US" sz="100" b="0">
                          <a:latin typeface="Cambria" charset="0"/>
                          <a:cs typeface="Cambria" charset="0"/>
                        </a:rPr>
                        <a:t>Inner Mitochondrial Membrane</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Cardiolipin (CL), POPE, POPC</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For mitochondrial proteins like ATP synthase, electron transport complexes</a:t>
                      </a:r>
                      <a:endParaRPr lang="en-US" sz="100" b="0">
                        <a:latin typeface="Cambria" charset="0"/>
                        <a:ea typeface="Cambria" charset="0"/>
                        <a:cs typeface="Cambria" charset="0"/>
                      </a:endParaRPr>
                    </a:p>
                  </a:txBody>
                  <a:tcPr marL="68580" marR="68580" marT="0" marB="0" vert="horz" anchor="t" anchorCtr="0">
                    <a:lnL>
                      <a:noFill/>
                    </a:lnL>
                    <a:lnR cap="flat">
                      <a:noFill/>
                    </a:lnR>
                    <a:lnT cap="flat">
                      <a:noFill/>
                    </a:lnT>
                    <a:lnB cap="flat">
                      <a:noFill/>
                    </a:lnB>
                    <a:lnTlToBr>
                      <a:noFill/>
                    </a:lnTlToBr>
                    <a:lnBlToTr>
                      <a:noFill/>
                    </a:lnBlToTr>
                    <a:noFill/>
                  </a:tcPr>
                </a:tc>
              </a:tr>
              <a:tr h="455930">
                <a:tc>
                  <a:txBody>
                    <a:bodyPr/>
                    <a:p>
                      <a:pPr indent="0">
                        <a:buNone/>
                      </a:pPr>
                      <a:r>
                        <a:rPr lang="en-US" sz="100" b="0">
                          <a:latin typeface="Cambria" charset="0"/>
                          <a:cs typeface="Cambria" charset="0"/>
                        </a:rPr>
                        <a:t>Bacterial Inner Membrane (Gram-negative)</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POPE, POPG</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For bacterial transporters (e.g., E. coli proteins)</a:t>
                      </a:r>
                      <a:endParaRPr lang="en-US" sz="100" b="0">
                        <a:latin typeface="Cambria" charset="0"/>
                        <a:ea typeface="Cambria" charset="0"/>
                        <a:cs typeface="Cambria" charset="0"/>
                      </a:endParaRPr>
                    </a:p>
                  </a:txBody>
                  <a:tcPr marL="68580" marR="68580" marT="0" marB="0" vert="horz" anchor="t" anchorCtr="0">
                    <a:lnL>
                      <a:noFill/>
                    </a:lnL>
                    <a:lnR cap="flat">
                      <a:noFill/>
                    </a:lnR>
                    <a:lnT cap="flat">
                      <a:noFill/>
                    </a:lnT>
                    <a:lnB cap="flat">
                      <a:noFill/>
                    </a:lnB>
                    <a:lnTlToBr>
                      <a:noFill/>
                    </a:lnTlToBr>
                    <a:lnBlToTr>
                      <a:noFill/>
                    </a:lnBlToTr>
                    <a:noFill/>
                  </a:tcPr>
                </a:tc>
              </a:tr>
              <a:tr h="455930">
                <a:tc>
                  <a:txBody>
                    <a:bodyPr/>
                    <a:p>
                      <a:pPr indent="0">
                        <a:buNone/>
                      </a:pPr>
                      <a:r>
                        <a:rPr lang="en-US" sz="100" b="0">
                          <a:latin typeface="Cambria" charset="0"/>
                          <a:cs typeface="Cambria" charset="0"/>
                        </a:rPr>
                        <a:t>Bacterial Outer Membrane</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Lipopolysaccharides (LPS), phospholipids</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For porins and bacterial outer membrane proteins</a:t>
                      </a:r>
                      <a:endParaRPr lang="en-US" sz="100" b="0">
                        <a:latin typeface="Cambria" charset="0"/>
                        <a:ea typeface="Cambria" charset="0"/>
                        <a:cs typeface="Cambria" charset="0"/>
                      </a:endParaRPr>
                    </a:p>
                  </a:txBody>
                  <a:tcPr marL="68580" marR="68580" marT="0" marB="0" vert="horz" anchor="t" anchorCtr="0">
                    <a:lnL>
                      <a:noFill/>
                    </a:lnL>
                    <a:lnR cap="flat">
                      <a:noFill/>
                    </a:lnR>
                    <a:lnT cap="flat">
                      <a:noFill/>
                    </a:lnT>
                    <a:lnB cap="flat">
                      <a:noFill/>
                    </a:lnB>
                    <a:lnTlToBr>
                      <a:noFill/>
                    </a:lnTlToBr>
                    <a:lnBlToTr>
                      <a:noFill/>
                    </a:lnBlToTr>
                    <a:noFill/>
                  </a:tcPr>
                </a:tc>
              </a:tr>
              <a:tr h="422910">
                <a:tc>
                  <a:txBody>
                    <a:bodyPr/>
                    <a:p>
                      <a:pPr indent="0">
                        <a:buNone/>
                      </a:pPr>
                      <a:r>
                        <a:rPr lang="en-US" sz="100" b="0">
                          <a:latin typeface="Cambria" charset="0"/>
                          <a:cs typeface="Cambria" charset="0"/>
                        </a:rPr>
                        <a:t>Endoplasmic Reticulum (ER) Membrane</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POPC, POPE, cholesterol (low), PS</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For ER-resident proteins, secretory pathways</a:t>
                      </a:r>
                      <a:endParaRPr lang="en-US" sz="100" b="0">
                        <a:latin typeface="Cambria" charset="0"/>
                        <a:ea typeface="Cambria" charset="0"/>
                        <a:cs typeface="Cambria" charset="0"/>
                      </a:endParaRPr>
                    </a:p>
                  </a:txBody>
                  <a:tcPr marL="68580" marR="68580" marT="0" marB="0" vert="horz" anchor="t" anchorCtr="0">
                    <a:lnL>
                      <a:noFill/>
                    </a:lnL>
                    <a:lnR cap="flat">
                      <a:noFill/>
                    </a:lnR>
                    <a:lnT cap="flat">
                      <a:noFill/>
                    </a:lnT>
                    <a:lnB cap="flat">
                      <a:noFill/>
                    </a:lnB>
                    <a:lnTlToBr>
                      <a:noFill/>
                    </a:lnTlToBr>
                    <a:lnBlToTr>
                      <a:noFill/>
                    </a:lnBlToTr>
                    <a:noFill/>
                  </a:tcPr>
                </a:tc>
              </a:tr>
              <a:tr h="455930">
                <a:tc>
                  <a:txBody>
                    <a:bodyPr/>
                    <a:p>
                      <a:pPr indent="0">
                        <a:buNone/>
                      </a:pPr>
                      <a:r>
                        <a:rPr lang="en-US" sz="100" b="0">
                          <a:latin typeface="Cambria" charset="0"/>
                          <a:cs typeface="Cambria" charset="0"/>
                        </a:rPr>
                        <a:t>Lipid Raft Models</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SM, cholesterol, saturated PCs</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For raft-associated proteins, signaling studies</a:t>
                      </a:r>
                      <a:endParaRPr lang="en-US" sz="100" b="0">
                        <a:latin typeface="Cambria" charset="0"/>
                        <a:ea typeface="Cambria" charset="0"/>
                        <a:cs typeface="Cambria" charset="0"/>
                      </a:endParaRPr>
                    </a:p>
                  </a:txBody>
                  <a:tcPr marL="68580" marR="68580" marT="0" marB="0" vert="horz" anchor="t" anchorCtr="0">
                    <a:lnL>
                      <a:noFill/>
                    </a:lnL>
                    <a:lnR cap="flat">
                      <a:noFill/>
                    </a:lnR>
                    <a:lnT cap="flat">
                      <a:noFill/>
                    </a:lnT>
                    <a:lnB cap="flat">
                      <a:noFill/>
                    </a:lnB>
                    <a:lnTlToBr>
                      <a:noFill/>
                    </a:lnTlToBr>
                    <a:lnBlToTr>
                      <a:noFill/>
                    </a:lnBlToTr>
                    <a:noFill/>
                  </a:tcPr>
                </a:tc>
              </a:tr>
              <a:tr h="412750">
                <a:tc>
                  <a:txBody>
                    <a:bodyPr/>
                    <a:p>
                      <a:pPr indent="0">
                        <a:buNone/>
                      </a:pPr>
                      <a:r>
                        <a:rPr lang="en-US" sz="100" b="0">
                          <a:latin typeface="Cambria" charset="0"/>
                          <a:cs typeface="Cambria" charset="0"/>
                        </a:rPr>
                        <a:t>Plant Membrane</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MGDG, DGDG, PG, SQDG</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For photosynthetic complexes (e.g., PSI, PSII)</a:t>
                      </a:r>
                      <a:endParaRPr lang="en-US" sz="100" b="0">
                        <a:latin typeface="Cambria" charset="0"/>
                        <a:ea typeface="Cambria" charset="0"/>
                        <a:cs typeface="Cambria" charset="0"/>
                      </a:endParaRPr>
                    </a:p>
                  </a:txBody>
                  <a:tcPr marL="68580" marR="68580" marT="0" marB="0" vert="horz" anchor="t" anchorCtr="0">
                    <a:lnL>
                      <a:noFill/>
                    </a:lnL>
                    <a:lnR cap="flat">
                      <a:noFill/>
                    </a:lnR>
                    <a:lnT cap="flat">
                      <a:noFill/>
                    </a:lnT>
                    <a:lnB cap="flat">
                      <a:noFill/>
                    </a:lnB>
                    <a:lnTlToBr>
                      <a:noFill/>
                    </a:lnTlToBr>
                    <a:lnBlToTr>
                      <a:noFill/>
                    </a:lnBlToTr>
                    <a:noFill/>
                  </a:tcPr>
                </a:tc>
              </a:tr>
              <a:tr h="434340">
                <a:tc>
                  <a:txBody>
                    <a:bodyPr/>
                    <a:p>
                      <a:pPr indent="0">
                        <a:buNone/>
                      </a:pPr>
                      <a:r>
                        <a:rPr lang="en-US" sz="100" b="0">
                          <a:latin typeface="Cambria" charset="0"/>
                          <a:cs typeface="Cambria" charset="0"/>
                        </a:rPr>
                        <a:t>Neuronal Membranes</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POPC, cholesterol, sphingomyelin, gangliosides</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For neuron receptors, ion channels</a:t>
                      </a:r>
                      <a:endParaRPr lang="en-US" sz="100" b="0">
                        <a:latin typeface="Cambria" charset="0"/>
                        <a:ea typeface="Cambria" charset="0"/>
                        <a:cs typeface="Cambria" charset="0"/>
                      </a:endParaRPr>
                    </a:p>
                  </a:txBody>
                  <a:tcPr marL="68580" marR="68580" marT="0" marB="0" vert="horz" anchor="t" anchorCtr="0">
                    <a:lnL>
                      <a:noFill/>
                    </a:lnL>
                    <a:lnR cap="flat">
                      <a:noFill/>
                    </a:lnR>
                    <a:lnT cap="flat">
                      <a:noFill/>
                    </a:lnT>
                    <a:lnB cap="flat">
                      <a:noFill/>
                    </a:lnB>
                    <a:lnTlToBr>
                      <a:noFill/>
                    </a:lnTlToBr>
                    <a:lnBlToTr>
                      <a:noFill/>
                    </a:lnBlToTr>
                    <a:noFill/>
                  </a:tcPr>
                </a:tc>
              </a:tr>
              <a:tr h="509905">
                <a:tc>
                  <a:txBody>
                    <a:bodyPr/>
                    <a:p>
                      <a:pPr indent="0">
                        <a:buNone/>
                      </a:pPr>
                      <a:r>
                        <a:rPr lang="en-US" sz="100" b="0">
                          <a:latin typeface="Cambria" charset="0"/>
                          <a:cs typeface="Cambria" charset="0"/>
                        </a:rPr>
                        <a:t>Viral Membranes</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POPC, POPE, cholesterol, viral-specific lipids</a:t>
                      </a:r>
                      <a:endParaRPr lang="en-US" sz="100" b="0">
                        <a:latin typeface="Cambria" charset="0"/>
                        <a:ea typeface="Cambria" charset="0"/>
                        <a:cs typeface="Cambria" charset="0"/>
                      </a:endParaRPr>
                    </a:p>
                  </a:txBody>
                  <a:tcPr marL="68580" marR="68580" marT="0" marB="0" vert="horz" anchor="t" anchorCtr="0">
                    <a:lnL>
                      <a:noFill/>
                    </a:lnL>
                    <a:lnR>
                      <a:noFill/>
                    </a:lnR>
                    <a:lnT cap="flat">
                      <a:noFill/>
                    </a:lnT>
                    <a:lnB cap="flat">
                      <a:noFill/>
                    </a:lnB>
                    <a:lnTlToBr>
                      <a:noFill/>
                    </a:lnTlToBr>
                    <a:lnBlToTr>
                      <a:noFill/>
                    </a:lnBlToTr>
                    <a:noFill/>
                  </a:tcPr>
                </a:tc>
                <a:tc>
                  <a:txBody>
                    <a:bodyPr/>
                    <a:p>
                      <a:pPr indent="0">
                        <a:buNone/>
                      </a:pPr>
                      <a:r>
                        <a:rPr lang="en-US" sz="100" b="0">
                          <a:latin typeface="Cambria" charset="0"/>
                          <a:cs typeface="Cambria" charset="0"/>
                        </a:rPr>
                        <a:t>For virus envelope proteins like influenza HA, HIV gp120</a:t>
                      </a:r>
                      <a:endParaRPr lang="en-US" sz="100" b="0">
                        <a:latin typeface="Cambria" charset="0"/>
                        <a:ea typeface="Cambria" charset="0"/>
                        <a:cs typeface="Cambria" charset="0"/>
                      </a:endParaRPr>
                    </a:p>
                  </a:txBody>
                  <a:tcPr marL="68580" marR="68580" marT="0" marB="0" vert="horz" anchor="t" anchorCtr="0">
                    <a:lnL>
                      <a:noFill/>
                    </a:lnL>
                    <a:lnR cap="flat">
                      <a:noFill/>
                    </a:lnR>
                    <a:lnT cap="flat">
                      <a:noFill/>
                    </a:lnT>
                    <a:lnB cap="flat">
                      <a:noFill/>
                    </a:lnB>
                    <a:lnTlToBr>
                      <a:noFill/>
                    </a:lnTlToBr>
                    <a:lnBlToTr>
                      <a:noFill/>
                    </a:lnBlToTr>
                    <a:noFill/>
                  </a:tcPr>
                </a:tc>
              </a:tr>
            </a:tbl>
          </a:graphicData>
        </a:graphic>
      </p:graphicFrame>
      <p:pic>
        <p:nvPicPr>
          <p:cNvPr id="8" name="Picture 7" descr="Screenshot from 2025-04-28 08-30-17"/>
          <p:cNvPicPr>
            <a:picLocks noChangeAspect="1"/>
          </p:cNvPicPr>
          <p:nvPr/>
        </p:nvPicPr>
        <p:blipFill>
          <a:blip r:embed="rId1"/>
          <a:stretch>
            <a:fillRect/>
          </a:stretch>
        </p:blipFill>
        <p:spPr>
          <a:xfrm>
            <a:off x="5301615" y="1459230"/>
            <a:ext cx="5572125" cy="52876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23190"/>
            <a:ext cx="10515600" cy="1325563"/>
          </a:xfrm>
        </p:spPr>
        <p:txBody>
          <a:bodyPr>
            <a:normAutofit/>
          </a:bodyPr>
          <a:p>
            <a:r>
              <a:rPr lang="" altLang="en-US" b="1"/>
              <a:t>Steps involve in building membrane complex </a:t>
            </a:r>
            <a:endParaRPr lang="" altLang="en-US" b="1"/>
          </a:p>
        </p:txBody>
      </p:sp>
      <p:pic>
        <p:nvPicPr>
          <p:cNvPr id="8" name="Picture 7" descr="Screenshot from 2025-04-28 03-37-43"/>
          <p:cNvPicPr>
            <a:picLocks noChangeAspect="1"/>
          </p:cNvPicPr>
          <p:nvPr/>
        </p:nvPicPr>
        <p:blipFill>
          <a:blip r:embed="rId1"/>
          <a:stretch>
            <a:fillRect/>
          </a:stretch>
        </p:blipFill>
        <p:spPr>
          <a:xfrm>
            <a:off x="5731510" y="1113155"/>
            <a:ext cx="4253865" cy="5624830"/>
          </a:xfrm>
          <a:prstGeom prst="rect">
            <a:avLst/>
          </a:prstGeom>
        </p:spPr>
      </p:pic>
      <p:sp>
        <p:nvSpPr>
          <p:cNvPr id="4" name="Text Box 3"/>
          <p:cNvSpPr txBox="1"/>
          <p:nvPr/>
        </p:nvSpPr>
        <p:spPr>
          <a:xfrm>
            <a:off x="939165" y="2209800"/>
            <a:ext cx="3958590" cy="1630045"/>
          </a:xfrm>
          <a:prstGeom prst="rect">
            <a:avLst/>
          </a:prstGeom>
          <a:noFill/>
        </p:spPr>
        <p:txBody>
          <a:bodyPr wrap="square" rtlCol="0" anchor="t">
            <a:spAutoFit/>
          </a:bodyPr>
          <a:p>
            <a:r>
              <a:rPr lang="en-US" sz="2000"/>
              <a:t>An algorithm for constructing a complex membrane system</a:t>
            </a:r>
            <a:r>
              <a:rPr lang="" altLang="en-US" sz="2000"/>
              <a:t>.</a:t>
            </a:r>
            <a:endParaRPr lang="" altLang="en-US" sz="2000"/>
          </a:p>
          <a:p>
            <a:endParaRPr lang="" altLang="en-US" sz="2000"/>
          </a:p>
          <a:p>
            <a:r>
              <a:rPr lang="" altLang="en-US" sz="2000" b="1">
                <a:solidFill>
                  <a:srgbClr val="FF0000"/>
                </a:solidFill>
              </a:rPr>
              <a:t>Алгоритм построения сложной мембранной системы</a:t>
            </a:r>
            <a:endParaRPr lang="" altLang="en-US" sz="2000" b="1">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ym typeface="+mn-ea"/>
              </a:rPr>
              <a:t>Building Membrane complex system</a:t>
            </a:r>
            <a:endParaRPr lang="" altLang="en-US" b="1"/>
          </a:p>
        </p:txBody>
      </p:sp>
      <p:pic>
        <p:nvPicPr>
          <p:cNvPr id="3" name="Picture 2" descr="Screenshot from 2025-04-28 03-08-27"/>
          <p:cNvPicPr>
            <a:picLocks noChangeAspect="1"/>
          </p:cNvPicPr>
          <p:nvPr/>
        </p:nvPicPr>
        <p:blipFill>
          <a:blip r:embed="rId1"/>
          <a:stretch>
            <a:fillRect/>
          </a:stretch>
        </p:blipFill>
        <p:spPr>
          <a:xfrm>
            <a:off x="3982085" y="1691005"/>
            <a:ext cx="7787640" cy="3285490"/>
          </a:xfrm>
          <a:prstGeom prst="rect">
            <a:avLst/>
          </a:prstGeom>
        </p:spPr>
      </p:pic>
      <p:sp>
        <p:nvSpPr>
          <p:cNvPr id="4" name="Text Box 3"/>
          <p:cNvSpPr txBox="1"/>
          <p:nvPr/>
        </p:nvSpPr>
        <p:spPr>
          <a:xfrm>
            <a:off x="229870" y="1527175"/>
            <a:ext cx="3574415" cy="3969385"/>
          </a:xfrm>
          <a:prstGeom prst="rect">
            <a:avLst/>
          </a:prstGeom>
          <a:noFill/>
        </p:spPr>
        <p:txBody>
          <a:bodyPr wrap="square" rtlCol="0" anchor="t">
            <a:spAutoFit/>
          </a:bodyPr>
          <a:p>
            <a:r>
              <a:rPr lang="en-US"/>
              <a:t>Drag the scroll bar to the middle. Two options will appear on the screen:</a:t>
            </a:r>
            <a:endParaRPr lang="en-US"/>
          </a:p>
          <a:p>
            <a:r>
              <a:rPr lang="en-US"/>
              <a:t>Protein/Membrane System and Membrane Only System. Choose the former one.</a:t>
            </a:r>
            <a:endParaRPr lang="en-US"/>
          </a:p>
          <a:p>
            <a:endParaRPr lang="en-US"/>
          </a:p>
          <a:p>
            <a:endParaRPr lang="en-US"/>
          </a:p>
          <a:p>
            <a:r>
              <a:rPr lang="en-US" b="1">
                <a:solidFill>
                  <a:srgbClr val="FF0000"/>
                </a:solidFill>
              </a:rPr>
              <a:t>Перетащите полосу прокрутки на середину. На экране появятся два варианта:</a:t>
            </a:r>
            <a:endParaRPr lang="en-US" b="1">
              <a:solidFill>
                <a:srgbClr val="FF0000"/>
              </a:solidFill>
            </a:endParaRPr>
          </a:p>
          <a:p>
            <a:r>
              <a:rPr lang="en-US" b="1">
                <a:solidFill>
                  <a:srgbClr val="FF0000"/>
                </a:solidFill>
              </a:rPr>
              <a:t>Система "Белок/мембрана" и система "Только мембрана". Выберите первый вариант.</a:t>
            </a:r>
            <a:endParaRPr lang="en-US" b="1">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ym typeface="+mn-ea"/>
              </a:rPr>
              <a:t>Building Membrane complex system</a:t>
            </a:r>
            <a:endParaRPr lang="en-US" altLang="en-US" b="1"/>
          </a:p>
        </p:txBody>
      </p:sp>
      <p:pic>
        <p:nvPicPr>
          <p:cNvPr id="3" name="Picture 2" descr="Screenshot from 2025-04-28 03-06-54"/>
          <p:cNvPicPr>
            <a:picLocks noChangeAspect="1"/>
          </p:cNvPicPr>
          <p:nvPr/>
        </p:nvPicPr>
        <p:blipFill>
          <a:blip r:embed="rId1"/>
          <a:stretch>
            <a:fillRect/>
          </a:stretch>
        </p:blipFill>
        <p:spPr>
          <a:xfrm>
            <a:off x="3485515" y="1945005"/>
            <a:ext cx="8477250" cy="4000500"/>
          </a:xfrm>
          <a:prstGeom prst="rect">
            <a:avLst/>
          </a:prstGeom>
        </p:spPr>
      </p:pic>
      <p:sp>
        <p:nvSpPr>
          <p:cNvPr id="4" name="Text Box 3"/>
          <p:cNvSpPr txBox="1"/>
          <p:nvPr/>
        </p:nvSpPr>
        <p:spPr>
          <a:xfrm>
            <a:off x="213360" y="2055495"/>
            <a:ext cx="3119755" cy="3784600"/>
          </a:xfrm>
          <a:prstGeom prst="rect">
            <a:avLst/>
          </a:prstGeom>
          <a:noFill/>
        </p:spPr>
        <p:txBody>
          <a:bodyPr wrap="square" rtlCol="0" anchor="t">
            <a:spAutoFit/>
          </a:bodyPr>
          <a:p>
            <a:r>
              <a:rPr lang="en-US" sz="2400"/>
              <a:t>Check on the box of protein and the ligand.</a:t>
            </a:r>
            <a:endParaRPr lang="en-US" sz="2400"/>
          </a:p>
          <a:p>
            <a:r>
              <a:rPr lang="en-US" sz="2400"/>
              <a:t>Then, click on the Next Step</a:t>
            </a:r>
            <a:r>
              <a:rPr lang="" altLang="en-US" sz="2400"/>
              <a:t>.</a:t>
            </a:r>
            <a:endParaRPr lang="" altLang="en-US" sz="2400"/>
          </a:p>
          <a:p>
            <a:endParaRPr lang="" altLang="en-US" sz="2400"/>
          </a:p>
          <a:p>
            <a:endParaRPr lang="" altLang="en-US" sz="2400"/>
          </a:p>
          <a:p>
            <a:r>
              <a:rPr lang="" altLang="en-US" sz="2400" b="1">
                <a:solidFill>
                  <a:srgbClr val="FF0000"/>
                </a:solidFill>
              </a:rPr>
              <a:t>Отметьте в поле белок и лиганд.</a:t>
            </a:r>
            <a:endParaRPr lang="" altLang="en-US" sz="2400" b="1">
              <a:solidFill>
                <a:srgbClr val="FF0000"/>
              </a:solidFill>
            </a:endParaRPr>
          </a:p>
          <a:p>
            <a:r>
              <a:rPr lang="" altLang="en-US" sz="2400" b="1">
                <a:solidFill>
                  <a:srgbClr val="FF0000"/>
                </a:solidFill>
              </a:rPr>
              <a:t>Затем перейдите к следующему шагу</a:t>
            </a:r>
            <a:endParaRPr lang="" altLang="en-US" sz="2400" b="1">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ym typeface="+mn-ea"/>
              </a:rPr>
              <a:t>Building Membrane complex system</a:t>
            </a:r>
            <a:endParaRPr lang="en-US" altLang="en-US" b="1"/>
          </a:p>
        </p:txBody>
      </p:sp>
      <p:pic>
        <p:nvPicPr>
          <p:cNvPr id="4" name="Picture 3" descr="Screenshot from 2025-04-26 22-06-16"/>
          <p:cNvPicPr>
            <a:picLocks noChangeAspect="1"/>
          </p:cNvPicPr>
          <p:nvPr/>
        </p:nvPicPr>
        <p:blipFill>
          <a:blip r:embed="rId1"/>
          <a:stretch>
            <a:fillRect/>
          </a:stretch>
        </p:blipFill>
        <p:spPr>
          <a:xfrm>
            <a:off x="4978400" y="1530350"/>
            <a:ext cx="5169535" cy="4893945"/>
          </a:xfrm>
          <a:prstGeom prst="rect">
            <a:avLst/>
          </a:prstGeom>
        </p:spPr>
      </p:pic>
      <p:sp>
        <p:nvSpPr>
          <p:cNvPr id="5" name="Text Box 4"/>
          <p:cNvSpPr txBox="1"/>
          <p:nvPr/>
        </p:nvSpPr>
        <p:spPr>
          <a:xfrm>
            <a:off x="520065" y="1868170"/>
            <a:ext cx="3507105" cy="3784600"/>
          </a:xfrm>
          <a:prstGeom prst="rect">
            <a:avLst/>
          </a:prstGeom>
          <a:noFill/>
        </p:spPr>
        <p:txBody>
          <a:bodyPr wrap="square" rtlCol="0" anchor="t">
            <a:spAutoFit/>
          </a:bodyPr>
          <a:p>
            <a:r>
              <a:rPr lang="en-US" sz="2000"/>
              <a:t>Change the pH value to 7.4 (physiological pH value). insert the simulated ligand and click Next</a:t>
            </a:r>
            <a:r>
              <a:rPr lang="" altLang="en-US" sz="2000"/>
              <a:t>.</a:t>
            </a:r>
            <a:endParaRPr lang="" altLang="en-US" sz="2000"/>
          </a:p>
          <a:p>
            <a:endParaRPr lang="" altLang="en-US" sz="2000"/>
          </a:p>
          <a:p>
            <a:endParaRPr lang="" altLang="en-US" sz="2000"/>
          </a:p>
          <a:p>
            <a:endParaRPr lang="" altLang="en-US" sz="2000"/>
          </a:p>
          <a:p>
            <a:r>
              <a:rPr lang="" altLang="en-US" sz="2000" b="1">
                <a:solidFill>
                  <a:srgbClr val="FF0000"/>
                </a:solidFill>
              </a:rPr>
              <a:t>Измените значение рН на 7,4 (физиологическое значение рН). вставьте смоделированный лиганд и нажмите кнопку Далее</a:t>
            </a:r>
            <a:endParaRPr lang="" altLang="en-US" sz="2000" b="1">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95250"/>
            <a:ext cx="10515600" cy="1325563"/>
          </a:xfrm>
        </p:spPr>
        <p:txBody>
          <a:bodyPr/>
          <a:p>
            <a:r>
              <a:rPr lang="en-US" altLang="en-US" b="1">
                <a:sym typeface="+mn-ea"/>
              </a:rPr>
              <a:t>Building Membrane complex system</a:t>
            </a:r>
            <a:endParaRPr lang="en-US" altLang="en-US" b="1"/>
          </a:p>
        </p:txBody>
      </p:sp>
      <p:pic>
        <p:nvPicPr>
          <p:cNvPr id="6" name="Picture 5" descr="Screenshot from 2025-04-26 22-11-40"/>
          <p:cNvPicPr>
            <a:picLocks noChangeAspect="1"/>
          </p:cNvPicPr>
          <p:nvPr/>
        </p:nvPicPr>
        <p:blipFill>
          <a:blip r:embed="rId1"/>
          <a:srcRect t="4072"/>
          <a:stretch>
            <a:fillRect/>
          </a:stretch>
        </p:blipFill>
        <p:spPr>
          <a:xfrm>
            <a:off x="7045325" y="1414145"/>
            <a:ext cx="4944110" cy="5310505"/>
          </a:xfrm>
          <a:prstGeom prst="rect">
            <a:avLst/>
          </a:prstGeom>
        </p:spPr>
      </p:pic>
      <p:sp>
        <p:nvSpPr>
          <p:cNvPr id="7" name="Text Box 6"/>
          <p:cNvSpPr txBox="1"/>
          <p:nvPr/>
        </p:nvSpPr>
        <p:spPr>
          <a:xfrm>
            <a:off x="198755" y="953770"/>
            <a:ext cx="6846570" cy="5631180"/>
          </a:xfrm>
          <a:prstGeom prst="rect">
            <a:avLst/>
          </a:prstGeom>
          <a:noFill/>
        </p:spPr>
        <p:txBody>
          <a:bodyPr wrap="square" rtlCol="0" anchor="t">
            <a:spAutoFit/>
          </a:bodyPr>
          <a:p>
            <a:r>
              <a:rPr lang="" altLang="en-US"/>
              <a:t>1. </a:t>
            </a:r>
            <a:r>
              <a:rPr lang="en-US"/>
              <a:t>Locate System Size Determination Options.</a:t>
            </a:r>
            <a:endParaRPr lang="en-US"/>
          </a:p>
          <a:p>
            <a:r>
              <a:rPr lang="en-US"/>
              <a:t>2 Select the Heterogeneous Lipid option.</a:t>
            </a:r>
            <a:endParaRPr lang="en-US"/>
          </a:p>
          <a:p>
            <a:r>
              <a:rPr lang="en-US"/>
              <a:t>Presently, the Homogeneous Lipid option is not supported, but users can select one type of lipid when using the Heterogeneous Lipid option to generate</a:t>
            </a:r>
            <a:endParaRPr lang="en-US"/>
          </a:p>
          <a:p>
            <a:r>
              <a:rPr lang="en-US"/>
              <a:t>a homogeneous lipid bilayer.</a:t>
            </a:r>
            <a:endParaRPr lang="en-US"/>
          </a:p>
          <a:p>
            <a:r>
              <a:rPr lang="en-US"/>
              <a:t>3 Select Rectangular as the Box Type.</a:t>
            </a:r>
            <a:endParaRPr lang="en-US"/>
          </a:p>
          <a:p>
            <a:r>
              <a:rPr lang="en-US"/>
              <a:t>4 In the Length of Z based on option, select Layer thickness. Change its initial parameter from 22.5 to 30 A.</a:t>
            </a:r>
            <a:endParaRPr lang="en-US"/>
          </a:p>
          <a:p>
            <a:endParaRPr lang="en-US"/>
          </a:p>
          <a:p>
            <a:r>
              <a:rPr lang="" altLang="en-US" b="1">
                <a:solidFill>
                  <a:srgbClr val="FF0000"/>
                </a:solidFill>
              </a:rPr>
              <a:t>1. </a:t>
            </a:r>
            <a:r>
              <a:rPr lang="en-US" b="1">
                <a:solidFill>
                  <a:srgbClr val="FF0000"/>
                </a:solidFill>
              </a:rPr>
              <a:t>Найдите параметры определения размера системы.</a:t>
            </a:r>
            <a:endParaRPr lang="en-US" b="1">
              <a:solidFill>
                <a:srgbClr val="FF0000"/>
              </a:solidFill>
            </a:endParaRPr>
          </a:p>
          <a:p>
            <a:r>
              <a:rPr lang="en-US" b="1">
                <a:solidFill>
                  <a:srgbClr val="FF0000"/>
                </a:solidFill>
              </a:rPr>
              <a:t>2 Выберите параметр "Гетерогенные липиды".</a:t>
            </a:r>
            <a:endParaRPr lang="en-US" b="1">
              <a:solidFill>
                <a:srgbClr val="FF0000"/>
              </a:solidFill>
            </a:endParaRPr>
          </a:p>
          <a:p>
            <a:r>
              <a:rPr lang="en-US" b="1">
                <a:solidFill>
                  <a:srgbClr val="FF0000"/>
                </a:solidFill>
              </a:rPr>
              <a:t>В настоящее время параметр "Гомогенные липиды" не поддерживается, но пользователи могут выбрать один тип липидов при использовании параметра "Гетерогенные липиды" для создания</a:t>
            </a:r>
            <a:endParaRPr lang="en-US" b="1">
              <a:solidFill>
                <a:srgbClr val="FF0000"/>
              </a:solidFill>
            </a:endParaRPr>
          </a:p>
          <a:p>
            <a:r>
              <a:rPr lang="en-US" b="1">
                <a:solidFill>
                  <a:srgbClr val="FF0000"/>
                </a:solidFill>
              </a:rPr>
              <a:t>однородного липидного бислоя.</a:t>
            </a:r>
            <a:endParaRPr lang="en-US" b="1">
              <a:solidFill>
                <a:srgbClr val="FF0000"/>
              </a:solidFill>
            </a:endParaRPr>
          </a:p>
          <a:p>
            <a:r>
              <a:rPr lang="en-US" b="1">
                <a:solidFill>
                  <a:srgbClr val="FF0000"/>
                </a:solidFill>
              </a:rPr>
              <a:t>3 Выберите "Прямоугольный" в качестве типа "Прямоугольник".</a:t>
            </a:r>
            <a:endParaRPr lang="en-US" b="1">
              <a:solidFill>
                <a:srgbClr val="FF0000"/>
              </a:solidFill>
            </a:endParaRPr>
          </a:p>
          <a:p>
            <a:r>
              <a:rPr lang="en-US" b="1">
                <a:solidFill>
                  <a:srgbClr val="FF0000"/>
                </a:solidFill>
              </a:rPr>
              <a:t>4 В поле Длина Z в зависимости от параметра выберите толщину слоя. Измените начальный параметр с 22,5 до 30 А.</a:t>
            </a:r>
            <a:endParaRPr lang="en-US" b="1">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90805"/>
            <a:ext cx="10515600" cy="906780"/>
          </a:xfrm>
        </p:spPr>
        <p:txBody>
          <a:bodyPr/>
          <a:p>
            <a:r>
              <a:rPr lang="en-US" altLang="en-US" b="1">
                <a:sym typeface="+mn-ea"/>
              </a:rPr>
              <a:t>Building Membrane complex system</a:t>
            </a:r>
            <a:endParaRPr lang="en-US" altLang="en-US" b="1"/>
          </a:p>
        </p:txBody>
      </p:sp>
      <p:sp>
        <p:nvSpPr>
          <p:cNvPr id="5" name="Text Box 4"/>
          <p:cNvSpPr txBox="1"/>
          <p:nvPr/>
        </p:nvSpPr>
        <p:spPr>
          <a:xfrm>
            <a:off x="213995" y="865505"/>
            <a:ext cx="10848340" cy="5077460"/>
          </a:xfrm>
          <a:prstGeom prst="rect">
            <a:avLst/>
          </a:prstGeom>
          <a:noFill/>
        </p:spPr>
        <p:txBody>
          <a:bodyPr wrap="square" rtlCol="0" anchor="t">
            <a:spAutoFit/>
          </a:bodyPr>
          <a:p>
            <a:r>
              <a:rPr lang="" altLang="en-US"/>
              <a:t>P</a:t>
            </a:r>
            <a:r>
              <a:rPr lang="en-US"/>
              <a:t>arameters needed to change based on the type of protein. Ideally, the types and numbers of lipids are chosen to match the native membrane. Users should search the literature to determine which species the</a:t>
            </a:r>
            <a:endParaRPr lang="en-US"/>
          </a:p>
          <a:p>
            <a:r>
              <a:rPr lang="en-US"/>
              <a:t>protein is from as well as the composition of its membrane in advance.</a:t>
            </a:r>
            <a:endParaRPr lang="en-US"/>
          </a:p>
          <a:p>
            <a:endParaRPr lang="en-US"/>
          </a:p>
          <a:p>
            <a:r>
              <a:rPr lang="en-US"/>
              <a:t>Returning to the Length of XY based on option, enter 100 in the Length of X and Y blank as an initial guess.</a:t>
            </a:r>
            <a:endParaRPr lang="en-US"/>
          </a:p>
          <a:p>
            <a:endParaRPr lang="en-US"/>
          </a:p>
          <a:p>
            <a:r>
              <a:rPr lang="en-US"/>
              <a:t>Then click on the Show the system info button and you should see the information</a:t>
            </a:r>
            <a:r>
              <a:rPr lang="" altLang="en-US"/>
              <a:t>.</a:t>
            </a:r>
            <a:endParaRPr lang="" altLang="en-US"/>
          </a:p>
          <a:p>
            <a:endParaRPr lang="" altLang="en-US"/>
          </a:p>
          <a:p>
            <a:r>
              <a:rPr lang="" altLang="en-US" b="1">
                <a:solidFill>
                  <a:srgbClr val="FF0000"/>
                </a:solidFill>
              </a:rPr>
              <a:t>параметры, которые необходимо изменить в зависимости от типа белка. В идеале, типы и количество липидов подбираются таким образом, чтобы они соответствовали нативной</a:t>
            </a:r>
            <a:endParaRPr lang="" altLang="en-US" b="1">
              <a:solidFill>
                <a:srgbClr val="FF0000"/>
              </a:solidFill>
            </a:endParaRPr>
          </a:p>
          <a:p>
            <a:r>
              <a:rPr lang="" altLang="en-US" b="1">
                <a:solidFill>
                  <a:srgbClr val="FF0000"/>
                </a:solidFill>
              </a:rPr>
              <a:t>мембране. Пользователям следует заранее ознакомиться с литературой, чтобы определить, к какому виду относится</a:t>
            </a:r>
            <a:endParaRPr lang="" altLang="en-US" b="1">
              <a:solidFill>
                <a:srgbClr val="FF0000"/>
              </a:solidFill>
            </a:endParaRPr>
          </a:p>
          <a:p>
            <a:r>
              <a:rPr lang="" altLang="en-US" b="1">
                <a:solidFill>
                  <a:srgbClr val="FF0000"/>
                </a:solidFill>
              </a:rPr>
              <a:t>белок, а также состав его мембраны.</a:t>
            </a:r>
            <a:endParaRPr lang="" altLang="en-US" b="1">
              <a:solidFill>
                <a:srgbClr val="FF0000"/>
              </a:solidFill>
            </a:endParaRPr>
          </a:p>
          <a:p>
            <a:endParaRPr lang="" altLang="en-US" b="1">
              <a:solidFill>
                <a:srgbClr val="FF0000"/>
              </a:solidFill>
            </a:endParaRPr>
          </a:p>
          <a:p>
            <a:r>
              <a:rPr lang="" altLang="en-US" b="1">
                <a:solidFill>
                  <a:srgbClr val="FF0000"/>
                </a:solidFill>
              </a:rPr>
              <a:t>Возвращаясь к длине XY на основе параметра option, введите 100 в поле Длина X и Y в качестве первоначального предположения.</a:t>
            </a:r>
            <a:endParaRPr lang="" altLang="en-US" b="1">
              <a:solidFill>
                <a:srgbClr val="FF0000"/>
              </a:solidFill>
            </a:endParaRPr>
          </a:p>
          <a:p>
            <a:endParaRPr lang="" altLang="en-US" b="1">
              <a:solidFill>
                <a:srgbClr val="FF0000"/>
              </a:solidFill>
            </a:endParaRPr>
          </a:p>
          <a:p>
            <a:r>
              <a:rPr lang="" altLang="en-US" b="1">
                <a:solidFill>
                  <a:srgbClr val="FF0000"/>
                </a:solidFill>
              </a:rPr>
              <a:t>Затем нажмите на кнопку Показать информацию о системе, и вы увидите информацию</a:t>
            </a:r>
            <a:endParaRPr lang="" altLang="en-US" b="1">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90805"/>
            <a:ext cx="10515600" cy="906780"/>
          </a:xfrm>
        </p:spPr>
        <p:txBody>
          <a:bodyPr/>
          <a:p>
            <a:r>
              <a:rPr lang="en-US" altLang="en-US" b="1">
                <a:sym typeface="+mn-ea"/>
              </a:rPr>
              <a:t>Building Membrane complex system</a:t>
            </a:r>
            <a:endParaRPr lang="en-US" altLang="en-US" b="1"/>
          </a:p>
        </p:txBody>
      </p:sp>
      <p:pic>
        <p:nvPicPr>
          <p:cNvPr id="3" name="Picture 2" descr="Screenshot from 2025-04-26 22-12-08"/>
          <p:cNvPicPr>
            <a:picLocks noChangeAspect="1"/>
          </p:cNvPicPr>
          <p:nvPr/>
        </p:nvPicPr>
        <p:blipFill>
          <a:blip r:embed="rId1"/>
          <a:stretch>
            <a:fillRect/>
          </a:stretch>
        </p:blipFill>
        <p:spPr>
          <a:xfrm>
            <a:off x="664210" y="997585"/>
            <a:ext cx="4862830" cy="5445760"/>
          </a:xfrm>
          <a:prstGeom prst="rect">
            <a:avLst/>
          </a:prstGeom>
        </p:spPr>
      </p:pic>
      <p:pic>
        <p:nvPicPr>
          <p:cNvPr id="4" name="Picture 3" descr="Screenshot from 2025-04-26 22-12-24"/>
          <p:cNvPicPr>
            <a:picLocks noChangeAspect="1"/>
          </p:cNvPicPr>
          <p:nvPr/>
        </p:nvPicPr>
        <p:blipFill>
          <a:blip r:embed="rId2"/>
          <a:stretch>
            <a:fillRect/>
          </a:stretch>
        </p:blipFill>
        <p:spPr>
          <a:xfrm>
            <a:off x="6664325" y="1028065"/>
            <a:ext cx="5047615" cy="565213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90805"/>
            <a:ext cx="10515600" cy="906780"/>
          </a:xfrm>
        </p:spPr>
        <p:txBody>
          <a:bodyPr/>
          <a:p>
            <a:r>
              <a:rPr lang="en-US" altLang="en-US" b="1">
                <a:sym typeface="+mn-ea"/>
              </a:rPr>
              <a:t>Building Membrane complex system</a:t>
            </a:r>
            <a:endParaRPr lang="en-US" altLang="en-US" b="1"/>
          </a:p>
        </p:txBody>
      </p:sp>
      <p:sp>
        <p:nvSpPr>
          <p:cNvPr id="3" name="Text Box 2"/>
          <p:cNvSpPr txBox="1"/>
          <p:nvPr/>
        </p:nvSpPr>
        <p:spPr>
          <a:xfrm>
            <a:off x="487680" y="997585"/>
            <a:ext cx="10865485" cy="4707890"/>
          </a:xfrm>
          <a:prstGeom prst="rect">
            <a:avLst/>
          </a:prstGeom>
          <a:noFill/>
        </p:spPr>
        <p:txBody>
          <a:bodyPr wrap="square" rtlCol="0" anchor="t">
            <a:spAutoFit/>
          </a:bodyPr>
          <a:p>
            <a:r>
              <a:rPr lang="en-US" sz="2000"/>
              <a:t>Use KCl as neutralizing species with a concentration of 0.15 M.  </a:t>
            </a:r>
            <a:endParaRPr lang="en-US" sz="2000"/>
          </a:p>
          <a:p>
            <a:endParaRPr lang="en-US" sz="2000"/>
          </a:p>
          <a:p>
            <a:r>
              <a:rPr lang="en-US" sz="2000"/>
              <a:t>The Ion Placing Method: Monte Carlo placement or distance.</a:t>
            </a:r>
            <a:endParaRPr lang="en-US" sz="2000"/>
          </a:p>
          <a:p>
            <a:endParaRPr lang="en-US" sz="2000"/>
          </a:p>
          <a:p>
            <a:r>
              <a:rPr lang="en-US" sz="2000"/>
              <a:t>Monte Carlo placement is best if you want energy-optimized, natural ion distribution.</a:t>
            </a:r>
            <a:endParaRPr lang="en-US" sz="2000"/>
          </a:p>
          <a:p>
            <a:r>
              <a:rPr lang="en-US" sz="2000"/>
              <a:t>Distance-based placement is very good and more common for normal simulations.</a:t>
            </a:r>
            <a:endParaRPr lang="en-US" sz="2000"/>
          </a:p>
          <a:p>
            <a:endParaRPr lang="en-US" sz="2000"/>
          </a:p>
          <a:p>
            <a:endParaRPr lang="en-US" sz="2000"/>
          </a:p>
          <a:p>
            <a:r>
              <a:rPr lang="en-US" sz="2000" b="1">
                <a:solidFill>
                  <a:srgbClr val="FF0000"/>
                </a:solidFill>
              </a:rPr>
              <a:t>В качестве нейтрализующего вещества используйте KCl с концентрацией 0,15 М.  </a:t>
            </a:r>
            <a:endParaRPr lang="en-US" sz="2000" b="1">
              <a:solidFill>
                <a:srgbClr val="FF0000"/>
              </a:solidFill>
            </a:endParaRPr>
          </a:p>
          <a:p>
            <a:r>
              <a:rPr lang="en-US" sz="2000" b="1">
                <a:solidFill>
                  <a:srgbClr val="FF0000"/>
                </a:solidFill>
              </a:rPr>
              <a:t>Метод размещения ионов: размещение по методу Монте-Карло или дистанционное размещение.</a:t>
            </a:r>
            <a:endParaRPr lang="en-US" sz="2000" b="1">
              <a:solidFill>
                <a:srgbClr val="FF0000"/>
              </a:solidFill>
            </a:endParaRPr>
          </a:p>
          <a:p>
            <a:endParaRPr lang="en-US" sz="2000" b="1">
              <a:solidFill>
                <a:srgbClr val="FF0000"/>
              </a:solidFill>
            </a:endParaRPr>
          </a:p>
          <a:p>
            <a:r>
              <a:rPr lang="en-US" sz="2000" b="1">
                <a:solidFill>
                  <a:srgbClr val="FF0000"/>
                </a:solidFill>
              </a:rPr>
              <a:t>Размещение по методу Монте-Карло лучше всего подходит, если вы хотите оптимизировать энергопотребление и естественное распределение ионов.</a:t>
            </a:r>
            <a:endParaRPr lang="en-US" sz="2000" b="1">
              <a:solidFill>
                <a:srgbClr val="FF0000"/>
              </a:solidFill>
            </a:endParaRPr>
          </a:p>
          <a:p>
            <a:r>
              <a:rPr lang="en-US" sz="2000" b="1">
                <a:solidFill>
                  <a:srgbClr val="FF0000"/>
                </a:solidFill>
              </a:rPr>
              <a:t>Дистанционное размещение очень удобно и чаще используется при обычном моделировании.</a:t>
            </a:r>
            <a:endParaRPr lang="en-US" sz="2000" b="1">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90805"/>
            <a:ext cx="10515600" cy="906780"/>
          </a:xfrm>
        </p:spPr>
        <p:txBody>
          <a:bodyPr/>
          <a:p>
            <a:r>
              <a:rPr lang="en-US" altLang="en-US" b="1">
                <a:sym typeface="+mn-ea"/>
              </a:rPr>
              <a:t>Building Membrane complex system</a:t>
            </a:r>
            <a:endParaRPr lang="en-US" altLang="en-US" b="1"/>
          </a:p>
        </p:txBody>
      </p:sp>
      <p:pic>
        <p:nvPicPr>
          <p:cNvPr id="5" name="Picture 4" descr="Screenshot from 2025-04-28 03-17-30"/>
          <p:cNvPicPr>
            <a:picLocks noChangeAspect="1"/>
          </p:cNvPicPr>
          <p:nvPr/>
        </p:nvPicPr>
        <p:blipFill>
          <a:blip r:embed="rId1"/>
          <a:stretch>
            <a:fillRect/>
          </a:stretch>
        </p:blipFill>
        <p:spPr>
          <a:xfrm>
            <a:off x="684530" y="997585"/>
            <a:ext cx="7121525" cy="5501640"/>
          </a:xfrm>
          <a:prstGeom prst="rect">
            <a:avLst/>
          </a:prstGeom>
        </p:spPr>
      </p:pic>
      <p:pic>
        <p:nvPicPr>
          <p:cNvPr id="7" name="Picture 6" descr="Screenshot from 2025-04-28 03-18-20"/>
          <p:cNvPicPr>
            <a:picLocks noChangeAspect="1"/>
          </p:cNvPicPr>
          <p:nvPr/>
        </p:nvPicPr>
        <p:blipFill>
          <a:blip r:embed="rId2"/>
          <a:srcRect r="41741"/>
          <a:stretch>
            <a:fillRect/>
          </a:stretch>
        </p:blipFill>
        <p:spPr>
          <a:xfrm>
            <a:off x="7489825" y="1588135"/>
            <a:ext cx="4479290" cy="376745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90805"/>
            <a:ext cx="10515600" cy="906780"/>
          </a:xfrm>
        </p:spPr>
        <p:txBody>
          <a:bodyPr/>
          <a:p>
            <a:r>
              <a:rPr lang="en-US" altLang="en-US" b="1">
                <a:sym typeface="+mn-ea"/>
              </a:rPr>
              <a:t>Building Membrane complex system</a:t>
            </a:r>
            <a:endParaRPr lang="en-US" altLang="en-US" b="1"/>
          </a:p>
        </p:txBody>
      </p:sp>
      <p:pic>
        <p:nvPicPr>
          <p:cNvPr id="3" name="Picture 2" descr="Screenshot from 2025-04-28 03-20-31"/>
          <p:cNvPicPr>
            <a:picLocks noChangeAspect="1"/>
          </p:cNvPicPr>
          <p:nvPr/>
        </p:nvPicPr>
        <p:blipFill>
          <a:blip r:embed="rId1"/>
          <a:srcRect r="12212" b="25130"/>
          <a:stretch>
            <a:fillRect/>
          </a:stretch>
        </p:blipFill>
        <p:spPr>
          <a:xfrm>
            <a:off x="5334000" y="1603375"/>
            <a:ext cx="6263005" cy="3651250"/>
          </a:xfrm>
          <a:prstGeom prst="rect">
            <a:avLst/>
          </a:prstGeom>
        </p:spPr>
      </p:pic>
      <p:sp>
        <p:nvSpPr>
          <p:cNvPr id="4" name="Text Box 3"/>
          <p:cNvSpPr txBox="1"/>
          <p:nvPr/>
        </p:nvSpPr>
        <p:spPr>
          <a:xfrm>
            <a:off x="375920" y="1723390"/>
            <a:ext cx="4958080" cy="3169285"/>
          </a:xfrm>
          <a:prstGeom prst="rect">
            <a:avLst/>
          </a:prstGeom>
          <a:noFill/>
        </p:spPr>
        <p:txBody>
          <a:bodyPr wrap="square" rtlCol="0" anchor="t">
            <a:spAutoFit/>
          </a:bodyPr>
          <a:p>
            <a:r>
              <a:rPr lang="" altLang="en-US" sz="2000"/>
              <a:t>R</a:t>
            </a:r>
            <a:r>
              <a:rPr lang="en-US" sz="2000"/>
              <a:t>eview the structure to make sure that the membrane and ion are positioned correctly. if they are positioned correctly, click Next.</a:t>
            </a:r>
            <a:endParaRPr lang="en-US" sz="2000"/>
          </a:p>
          <a:p>
            <a:endParaRPr lang="en-US" sz="2000"/>
          </a:p>
          <a:p>
            <a:endParaRPr lang="en-US" sz="2000"/>
          </a:p>
          <a:p>
            <a:r>
              <a:rPr lang="en-US" sz="2000" b="1">
                <a:solidFill>
                  <a:srgbClr val="FF0000"/>
                </a:solidFill>
              </a:rPr>
              <a:t>проверьте конструкцию, чтобы убедиться, что мембрана и ион расположены правильно. если они установлены правильно, нажмите кнопку Далее.</a:t>
            </a:r>
            <a:endParaRPr lang="en-US" sz="2000" b="1">
              <a:solidFill>
                <a:srgbClr val="FF0000"/>
              </a:solidFill>
            </a:endParaRPr>
          </a:p>
          <a:p>
            <a:endParaRPr lang="en-US" sz="2000" b="1">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7870" y="45085"/>
            <a:ext cx="10515600" cy="1325563"/>
          </a:xfrm>
        </p:spPr>
        <p:txBody>
          <a:bodyPr/>
          <a:p>
            <a:r>
              <a:rPr lang="en-US" altLang="en-US" b="1">
                <a:sym typeface="+mn-ea"/>
              </a:rPr>
              <a:t>Building Membrane complex system</a:t>
            </a:r>
            <a:endParaRPr lang="en-US" altLang="en-US" b="1"/>
          </a:p>
        </p:txBody>
      </p:sp>
      <p:pic>
        <p:nvPicPr>
          <p:cNvPr id="7" name="Picture 6" descr="Screenshot from 2025-04-28 03-29-23"/>
          <p:cNvPicPr>
            <a:picLocks noChangeAspect="1"/>
          </p:cNvPicPr>
          <p:nvPr/>
        </p:nvPicPr>
        <p:blipFill>
          <a:blip r:embed="rId1"/>
          <a:stretch>
            <a:fillRect/>
          </a:stretch>
        </p:blipFill>
        <p:spPr>
          <a:xfrm>
            <a:off x="5748020" y="1088390"/>
            <a:ext cx="5505450" cy="5467350"/>
          </a:xfrm>
          <a:prstGeom prst="rect">
            <a:avLst/>
          </a:prstGeom>
        </p:spPr>
      </p:pic>
      <p:sp>
        <p:nvSpPr>
          <p:cNvPr id="9" name="Text Box 8"/>
          <p:cNvSpPr txBox="1"/>
          <p:nvPr/>
        </p:nvSpPr>
        <p:spPr>
          <a:xfrm>
            <a:off x="560705" y="1907540"/>
            <a:ext cx="5010785" cy="2553335"/>
          </a:xfrm>
          <a:prstGeom prst="rect">
            <a:avLst/>
          </a:prstGeom>
          <a:noFill/>
        </p:spPr>
        <p:txBody>
          <a:bodyPr wrap="square" rtlCol="0" anchor="t">
            <a:spAutoFit/>
          </a:bodyPr>
          <a:p>
            <a:r>
              <a:rPr lang="en-US" sz="2000"/>
              <a:t>choose the force field and input data generation at your discretion. change the temperature to 310 degrees</a:t>
            </a:r>
            <a:endParaRPr lang="en-US" sz="2000"/>
          </a:p>
          <a:p>
            <a:endParaRPr lang="en-US" sz="2000"/>
          </a:p>
          <a:p>
            <a:endParaRPr lang="en-US" sz="2000"/>
          </a:p>
          <a:p>
            <a:r>
              <a:rPr lang="en-US" sz="2000" b="1">
                <a:solidFill>
                  <a:srgbClr val="FF0000"/>
                </a:solidFill>
              </a:rPr>
              <a:t>выберите силовое поле и генерацию входных данных по своему усмотрению. измените температуру на 310 градусов</a:t>
            </a:r>
            <a:endParaRPr lang="en-US" sz="2000" b="1">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7870" y="45085"/>
            <a:ext cx="10515600" cy="1325563"/>
          </a:xfrm>
        </p:spPr>
        <p:txBody>
          <a:bodyPr/>
          <a:p>
            <a:r>
              <a:rPr lang="en-US" altLang="en-US" b="1">
                <a:sym typeface="+mn-ea"/>
              </a:rPr>
              <a:t>Building Membrane complex system</a:t>
            </a:r>
            <a:endParaRPr lang="en-US" altLang="en-US" b="1"/>
          </a:p>
        </p:txBody>
      </p:sp>
      <p:pic>
        <p:nvPicPr>
          <p:cNvPr id="8" name="Picture 7" descr="Screenshot from 2025-04-28 03-30-42"/>
          <p:cNvPicPr>
            <a:picLocks noChangeAspect="1"/>
          </p:cNvPicPr>
          <p:nvPr/>
        </p:nvPicPr>
        <p:blipFill>
          <a:blip r:embed="rId1"/>
          <a:stretch>
            <a:fillRect/>
          </a:stretch>
        </p:blipFill>
        <p:spPr>
          <a:xfrm>
            <a:off x="1706880" y="1215390"/>
            <a:ext cx="7000240" cy="52254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7870" y="45085"/>
            <a:ext cx="10515600" cy="1325563"/>
          </a:xfrm>
        </p:spPr>
        <p:txBody>
          <a:bodyPr/>
          <a:p>
            <a:r>
              <a:rPr lang="en-US" altLang="en-US" b="1">
                <a:sym typeface="+mn-ea"/>
              </a:rPr>
              <a:t>Building Membrane complex system</a:t>
            </a:r>
            <a:endParaRPr lang="en-US" altLang="en-US" b="1"/>
          </a:p>
        </p:txBody>
      </p:sp>
      <p:pic>
        <p:nvPicPr>
          <p:cNvPr id="3" name="Picture 2" descr="Screenshot from 2025-04-28 05-09-01"/>
          <p:cNvPicPr>
            <a:picLocks noChangeAspect="1"/>
          </p:cNvPicPr>
          <p:nvPr/>
        </p:nvPicPr>
        <p:blipFill>
          <a:blip r:embed="rId1"/>
          <a:srcRect b="3774"/>
          <a:stretch>
            <a:fillRect/>
          </a:stretch>
        </p:blipFill>
        <p:spPr>
          <a:xfrm>
            <a:off x="966470" y="1096645"/>
            <a:ext cx="10058400" cy="4112260"/>
          </a:xfrm>
          <a:prstGeom prst="rect">
            <a:avLst/>
          </a:prstGeom>
        </p:spPr>
      </p:pic>
      <p:sp>
        <p:nvSpPr>
          <p:cNvPr id="5" name="Text Box 4"/>
          <p:cNvSpPr txBox="1"/>
          <p:nvPr/>
        </p:nvSpPr>
        <p:spPr>
          <a:xfrm>
            <a:off x="737870" y="5227320"/>
            <a:ext cx="10085705" cy="1322070"/>
          </a:xfrm>
          <a:prstGeom prst="rect">
            <a:avLst/>
          </a:prstGeom>
          <a:noFill/>
        </p:spPr>
        <p:txBody>
          <a:bodyPr wrap="square" rtlCol="0" anchor="t">
            <a:spAutoFit/>
          </a:bodyPr>
          <a:p>
            <a:r>
              <a:rPr lang="en-US" sz="2000"/>
              <a:t>Download the generated input file for minimization, equilibration and production run</a:t>
            </a:r>
            <a:endParaRPr lang="en-US" sz="2000"/>
          </a:p>
          <a:p>
            <a:endParaRPr lang="en-US" sz="2000"/>
          </a:p>
          <a:p>
            <a:r>
              <a:rPr lang="en-US" sz="2000" b="1">
                <a:solidFill>
                  <a:srgbClr val="FF0000"/>
                </a:solidFill>
              </a:rPr>
              <a:t>Загрузите сгенерированный входной файл для минимизации, уравновешивания и запуска в производство</a:t>
            </a:r>
            <a:endParaRPr lang="en-US" sz="2000" b="1">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p:nvPr>
            <p:ph type="title"/>
          </p:nvPr>
        </p:nvSpPr>
        <p:spPr>
          <a:xfrm>
            <a:off x="499745" y="2766060"/>
            <a:ext cx="10515600" cy="1325563"/>
          </a:xfrm>
        </p:spPr>
        <p:txBody>
          <a:bodyPr/>
          <a:p>
            <a:pPr algn="ctr"/>
            <a:r>
              <a:rPr lang="" altLang="en-US" b="1"/>
              <a:t>To be continued</a:t>
            </a:r>
            <a:endParaRPr lang="" altLang="en-US" b="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11127</Words>
  <Application>WPS Presentation</Application>
  <PresentationFormat>Widescreen</PresentationFormat>
  <Paragraphs>345</Paragraphs>
  <Slides>32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32</vt:i4>
      </vt:variant>
    </vt:vector>
  </HeadingPairs>
  <TitlesOfParts>
    <vt:vector size="45" baseType="lpstr">
      <vt:lpstr>Arial</vt:lpstr>
      <vt:lpstr>SimSun</vt:lpstr>
      <vt:lpstr>Wingdings</vt:lpstr>
      <vt:lpstr>Calibri Light</vt:lpstr>
      <vt:lpstr>Calibri</vt:lpstr>
      <vt:lpstr>微软雅黑</vt:lpstr>
      <vt:lpstr>Arial Unicode MS</vt:lpstr>
      <vt:lpstr>Times New Roman</vt:lpstr>
      <vt:lpstr>Cambria</vt:lpstr>
      <vt:lpstr>Gubbi</vt:lpstr>
      <vt:lpstr>ＭＳ ゴシック</vt:lpstr>
      <vt:lpstr>ＭＳ 明朝</vt:lpstr>
      <vt:lpstr>Office Theme</vt:lpstr>
      <vt:lpstr>Molecular Dynamics Simulation</vt:lpstr>
      <vt:lpstr>Molecular Dynamics Simulation</vt:lpstr>
      <vt:lpstr>What Is It Used For?</vt:lpstr>
      <vt:lpstr>Simplified Workflow:</vt:lpstr>
      <vt:lpstr>Упрощенный рабочий процесс</vt:lpstr>
      <vt:lpstr>Popular MD Software:</vt:lpstr>
      <vt:lpstr>Model Preparation using charmm-gui website</vt:lpstr>
      <vt:lpstr>Model Preparation using charmm-gui website</vt:lpstr>
      <vt:lpstr>Model Preparation using charmm-gui website </vt:lpstr>
      <vt:lpstr>Model Preparation using charmm-gui website</vt:lpstr>
      <vt:lpstr>Model Preparation using charmm-gui website</vt:lpstr>
      <vt:lpstr>Model Preparation using charmm-gui website</vt:lpstr>
      <vt:lpstr>Model Preparation using charmm-gui website</vt:lpstr>
      <vt:lpstr>Model Preparation using charmm-gui website </vt:lpstr>
      <vt:lpstr>Simulation steps:</vt:lpstr>
      <vt:lpstr>Analysis:</vt:lpstr>
      <vt:lpstr>PowerPoint 演示文稿</vt:lpstr>
      <vt:lpstr>Membrane complex simulation</vt:lpstr>
      <vt:lpstr>PowerPoint 演示文稿</vt:lpstr>
      <vt:lpstr>Membrane complex simulation</vt:lpstr>
      <vt:lpstr>Membrane complex simulation</vt:lpstr>
      <vt:lpstr>Membrane complex simulation</vt:lpstr>
      <vt:lpstr>Membrane complex simulation</vt:lpstr>
      <vt:lpstr>Membrane complex simulation</vt:lpstr>
      <vt:lpstr>Building Membrane complex system</vt:lpstr>
      <vt:lpstr>Membrane complex simulation</vt:lpstr>
      <vt:lpstr>Building Membrane complex system</vt:lpstr>
      <vt:lpstr>Membrane complex simulation</vt:lpstr>
      <vt:lpstr>Membrane complex simulation</vt:lpstr>
      <vt:lpstr>Membrane complex simulation</vt:lpstr>
      <vt:lpstr>Building Membrane complex system</vt:lpstr>
      <vt:lpstr>Building Membrane complex system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Molecular Dynamics Simulation</dc:title>
  <dc:creator>samson</dc:creator>
  <cp:lastModifiedBy>samson</cp:lastModifiedBy>
  <cp:revision>20</cp:revision>
  <dcterms:created xsi:type="dcterms:W3CDTF">2025-04-28T05:34:11Z</dcterms:created>
  <dcterms:modified xsi:type="dcterms:W3CDTF">2025-04-28T05:34:11Z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1033-11.1.0.9505</vt:lpwstr>
  </property>
</Properties>
</file>